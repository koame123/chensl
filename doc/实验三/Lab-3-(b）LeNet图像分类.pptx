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0" r:id="rId4"/>
    <p:sldId id="275" r:id="rId5"/>
    <p:sldId id="259" r:id="rId6"/>
    <p:sldId id="262" r:id="rId7"/>
    <p:sldId id="261" r:id="rId8"/>
    <p:sldId id="281" r:id="rId9"/>
    <p:sldId id="282" r:id="rId10"/>
    <p:sldId id="283" r:id="rId11"/>
    <p:sldId id="266" r:id="rId12"/>
    <p:sldId id="268" r:id="rId13"/>
    <p:sldId id="277" r:id="rId14"/>
    <p:sldId id="284" r:id="rId15"/>
    <p:sldId id="271" r:id="rId16"/>
    <p:sldId id="272" r:id="rId17"/>
    <p:sldId id="276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8EF1160-288A-1841-ACE7-65ACF9D55444}">
          <p14:sldIdLst>
            <p14:sldId id="256"/>
            <p14:sldId id="257"/>
            <p14:sldId id="280"/>
            <p14:sldId id="275"/>
            <p14:sldId id="259"/>
            <p14:sldId id="262"/>
            <p14:sldId id="261"/>
            <p14:sldId id="281"/>
            <p14:sldId id="282"/>
            <p14:sldId id="283"/>
            <p14:sldId id="266"/>
            <p14:sldId id="268"/>
            <p14:sldId id="277"/>
            <p14:sldId id="284"/>
            <p14:sldId id="271"/>
            <p14:sldId id="272"/>
            <p14:sldId id="276"/>
          </p14:sldIdLst>
        </p14:section>
        <p14:section name="无标题节" id="{819AD918-E46B-2041-946B-7914C81A5B9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4" autoAdjust="0"/>
    <p:restoredTop sz="93741" autoAdjust="0"/>
  </p:normalViewPr>
  <p:slideViewPr>
    <p:cSldViewPr snapToGrid="0">
      <p:cViewPr varScale="1">
        <p:scale>
          <a:sx n="113" d="100"/>
          <a:sy n="113" d="100"/>
        </p:scale>
        <p:origin x="941" y="82"/>
      </p:cViewPr>
      <p:guideLst/>
    </p:cSldViewPr>
  </p:slideViewPr>
  <p:outlineViewPr>
    <p:cViewPr>
      <p:scale>
        <a:sx n="33" d="100"/>
        <a:sy n="33" d="100"/>
      </p:scale>
      <p:origin x="0" y="-52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BFF3B-1498-4A67-8815-7977704C2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4D93E4-D130-4C0F-B3EB-047BAE53C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638BDF-A6D6-427D-AAF9-B0C186839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C1FB03-3B65-472A-B95E-934DEB33E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B2C63F-7EA4-40EB-A46B-B56671B5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064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D69663-7E06-4C8A-81B0-4BD61AFD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5A46F3-B5B1-4708-A18E-8A5449568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142EE9-3853-4787-90F8-271E9253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D9F367-6D94-4048-987A-78FFC3F6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55792-B6FB-4585-A990-1F791A80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00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4B498-6416-47CE-A3DB-BBF1B0C7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7EE195-FA89-4567-8D21-85C5EC770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504627-B96E-4019-9133-80BE0C9B4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E72D8-60BD-4432-84D8-CD6821430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68B4E0-1050-4B20-8669-D14F4734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439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FF9AC5-34CD-4F77-AAD6-8594BA7F6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220CE-0B4F-4413-B888-65F28D4D7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4125D-0150-4733-94A4-8B69FB425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81ECDC-7C84-4FA8-A51A-F154EFF2D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415E3F-3EE5-444E-A182-13B91D3F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599084-8946-4501-87C6-5E0563A3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961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E8A21-6529-4015-903E-4DC404E7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6961FA-1BD0-4542-B2E2-1C564F2E4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BF6B94-3C3D-48A3-B8D2-5881E849A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8E6D56-015D-41B5-9A75-25C998403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9CDB05-47FB-453D-BEF6-38AB1F6E3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38D73B-B356-4227-851D-E6F25A79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7C7F0B-0DE1-4E94-B0AC-58F196F32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8993AB-9908-4BDB-A6C8-CC38370C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316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3C046-39DD-4F8E-8C7F-B4C3B296E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0C804E-51EC-4435-8866-09AB1780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0EEBD1-9768-439B-80BE-A533851B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0545C7-D6E2-49A5-AA62-B85E6F41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69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37522C-21DC-46CD-B1D5-1A3A9518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999D90-F232-4160-ABB0-50BC225D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5AB260-564E-4182-8607-2EA107E2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12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3ED41-FE22-4F4B-B5BF-1E7E6158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3A3705-7512-42D2-BCE0-39E80D020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39160E-3843-4ADA-99E5-FDCAF00DE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C176EE-B1B1-4B69-99D4-A1E0889D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920EB0-D357-4F9E-BFE6-99F6DB02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42D799-CC43-42E3-9BF5-51FF5426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87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D582C-A514-4270-A2BB-31696F1AE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214D3C0-53C7-4D17-8603-B9B28F47C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C1FE32-827F-4F0C-97DC-EFC1EBAA8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6E6F93-1C0E-4CD9-B81C-FCA3CDE4B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7637CC-6A78-4753-BB31-234D55ED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5DA2EC-67C7-4973-B55D-B3624BCEC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92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46978-B967-4E99-83B6-9DBA159A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13B62D-B575-41B7-BF0B-4EEC89119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649AAE-0A2F-4770-B9F0-D3426B6F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2BF688-B21F-4883-98A5-3A10ABAC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C38796-8A2A-491D-BFE5-157DEBAF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17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FAF2FF-6882-4F79-8726-DA99524F7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89CFAE-CDD6-4E44-B4ED-0200D2B65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8D4D07-7067-4B25-B7B8-48AAAD33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718F19-3EB9-4190-9F79-955DA880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0491B3-0EA0-400C-89E1-31E41CCA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956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23D74F-5589-42F2-B3A4-2ACCA925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D775A3-3697-4AEB-877F-5AAE88154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297DE3-D69B-4FA6-9F78-B4F450393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2B6F4-7BDA-4643-BAF7-C73FF8C32EB8}" type="datetimeFigureOut">
              <a:rPr lang="zh-CN" altLang="en-US" smtClean="0"/>
              <a:t>2024/4/29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C4E44-E76A-4F7E-A621-F15095C7B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DF854E-D33A-4725-BA2C-8E5DDE3ED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91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206B966-5E51-4A0A-ABCE-32855B89A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192" y="338328"/>
            <a:ext cx="4346448" cy="2249424"/>
          </a:xfrm>
        </p:spPr>
        <p:txBody>
          <a:bodyPr anchor="b">
            <a:normAutofit/>
          </a:bodyPr>
          <a:lstStyle/>
          <a:p>
            <a:pPr algn="l"/>
            <a:r>
              <a:rPr lang="en-US" altLang="zh-CN" sz="5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LeNet</a:t>
            </a:r>
            <a:br>
              <a:rPr lang="en-US" altLang="zh-CN" sz="5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5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</a:t>
            </a:r>
            <a:r>
              <a:rPr lang="zh-CN" altLang="en-US" sz="5400" b="1" dirty="0">
                <a:latin typeface="宋体" panose="02010600030101010101" pitchFamily="2" charset="-122"/>
                <a:ea typeface="宋体" panose="02010600030101010101" pitchFamily="2" charset="-122"/>
              </a:rPr>
              <a:t>分类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096357-AB00-46D5-9EAB-2F9437573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718" y="3875364"/>
            <a:ext cx="5719281" cy="2982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29CACBB-92EF-4B9C-8B57-E1E69F091389}"/>
              </a:ext>
            </a:extLst>
          </p:cNvPr>
          <p:cNvSpPr/>
          <p:nvPr/>
        </p:nvSpPr>
        <p:spPr>
          <a:xfrm>
            <a:off x="6472717" y="1440346"/>
            <a:ext cx="4726113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图像分类是根据图像的语义信息将不同类别图像区分开来，是计算机视觉中重要的基本问题。</a:t>
            </a:r>
          </a:p>
        </p:txBody>
      </p:sp>
    </p:spTree>
    <p:extLst>
      <p:ext uri="{BB962C8B-B14F-4D97-AF65-F5344CB8AC3E}">
        <p14:creationId xmlns:p14="http://schemas.microsoft.com/office/powerpoint/2010/main" val="2179613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数据集准备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629"/>
            <a:ext cx="10515600" cy="255826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CIFAR10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数据集。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CIFAR10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数据集包含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60,000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张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32x32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的彩色图片，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个类别，每个类包含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6,000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张。其中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50,000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张图片作为训练集，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张作为验证集。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b="1" dirty="0"/>
          </a:p>
          <a:p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B22F2B-F02E-4C46-8AF5-72272EDC42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6637"/>
          <a:stretch/>
        </p:blipFill>
        <p:spPr>
          <a:xfrm>
            <a:off x="1055766" y="3549600"/>
            <a:ext cx="10080467" cy="304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4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C5FCC8F-B117-40FF-9C28-84CD3DBFB8EE}"/>
              </a:ext>
            </a:extLst>
          </p:cNvPr>
          <p:cNvSpPr txBox="1">
            <a:spLocks/>
          </p:cNvSpPr>
          <p:nvPr/>
        </p:nvSpPr>
        <p:spPr>
          <a:xfrm>
            <a:off x="636143" y="1164011"/>
            <a:ext cx="5396522" cy="53802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OBS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桶及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dataset-cifar10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文件夹</a:t>
            </a:r>
            <a:endParaRPr lang="zh-CN" altLang="en-US" sz="3200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下载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CIFAR10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数据集解压并上传至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OBS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dataset-cifar10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文件夹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mindspore.dataset.Cifar10Dataset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处理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MNIST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</a:t>
            </a:r>
            <a:endParaRPr lang="en-US" altLang="zh-CN" sz="3200" dirty="0"/>
          </a:p>
          <a:p>
            <a:endParaRPr lang="en-US" altLang="zh-CN" sz="3200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32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43741A0-7030-427D-B99F-61ACED4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数据集准备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F1F5998-F8D3-5941-8B83-884E936DD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809" y="184331"/>
            <a:ext cx="3432241" cy="57558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73C876-5D42-E524-DAA6-828508C18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12" y="5693989"/>
            <a:ext cx="1038225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4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C5FCC8F-B117-40FF-9C28-84CD3DBFB8EE}"/>
              </a:ext>
            </a:extLst>
          </p:cNvPr>
          <p:cNvSpPr txBox="1">
            <a:spLocks/>
          </p:cNvSpPr>
          <p:nvPr/>
        </p:nvSpPr>
        <p:spPr>
          <a:xfrm>
            <a:off x="636143" y="1164011"/>
            <a:ext cx="10728544" cy="3676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Mindspore.dataset.Cifar10Dataset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会自动处理数据集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dataset_dire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为文件路径，根据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usage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返回相应的训练集或测试集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dataset.map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对数据和和标签进行预处理，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operations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接收</a:t>
            </a:r>
            <a:r>
              <a:rPr lang="en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mindspore.dataset.vision.c_transforms</a:t>
            </a:r>
            <a:r>
              <a:rPr lang="zh-CN" altLang="e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的图像处理函数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shuffle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乱序，再使用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batch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对数据进行分批，批处理是一种常用的训练加速方法</a:t>
            </a:r>
            <a:endParaRPr lang="en-US" altLang="zh-CN" dirty="0"/>
          </a:p>
          <a:p>
            <a:endParaRPr lang="en-US" altLang="zh-CN" sz="3200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32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43741A0-7030-427D-B99F-61ACED4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数据集准备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609187-4C57-7D7C-8319-7F02DF13E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08" y="3948908"/>
            <a:ext cx="8728465" cy="284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8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网络及参数配置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362" y="1228159"/>
            <a:ext cx="10338398" cy="313015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在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LeNet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模型中，卷积神经网络能够更好的利用图像的结构信息。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下面定义了一个较简单的卷积神经网络。显示了其结构：输入的二维图像，先经过三次卷积层、池化层和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Batch_norm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，再经过全连接层，最后使用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softmax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分类作为输出层</a:t>
            </a:r>
            <a:endParaRPr lang="en-US" altLang="zh-CN" sz="32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17C814F-E7B9-470D-B130-47C13D635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58314"/>
            <a:ext cx="12192000" cy="235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18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网络及参数配置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CCC9176-FECC-4D23-83AC-8522C4E2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14" y="1403015"/>
            <a:ext cx="5328057" cy="448679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定义网络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定义了一个较简单的卷积神经网络。显示了其结构：输入的二维图像，先经过三次卷积层、池化层和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Batchnorm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，再经过全连接层，最后使用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softmax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分类作为输出层。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2E122C-4D54-5BDB-998A-BF75499A97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458"/>
          <a:stretch/>
        </p:blipFill>
        <p:spPr>
          <a:xfrm>
            <a:off x="6308182" y="1287304"/>
            <a:ext cx="5883818" cy="428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32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网络及参数配置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1150706"/>
            <a:ext cx="9829800" cy="167725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定义数据层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输入的是图像数据。图像是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32 * 32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的彩度图，所以输入的形状是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[3, 32, 32]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，彩色图有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RGB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三个通道。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26A73EAD-43CD-4926-8782-F78368443395}"/>
              </a:ext>
            </a:extLst>
          </p:cNvPr>
          <p:cNvSpPr txBox="1">
            <a:spLocks/>
          </p:cNvSpPr>
          <p:nvPr/>
        </p:nvSpPr>
        <p:spPr>
          <a:xfrm>
            <a:off x="1181100" y="4193836"/>
            <a:ext cx="9829800" cy="804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获取分类器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predict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754D2FB-6920-4A4E-B779-496D69CEF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5251111"/>
            <a:ext cx="44450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5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网络及参数配置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062" y="1150706"/>
            <a:ext cx="9554966" cy="294691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定义损失函数和准确率评价指标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使用的是</a:t>
            </a:r>
            <a:r>
              <a:rPr lang="zh-CN" altLang="en-US" sz="32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交叉熵损失函数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，在分类任务上比较常用。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还可以定义一个准确率函数，这个可以在训练的时候输出</a:t>
            </a:r>
            <a:r>
              <a:rPr lang="zh-CN" altLang="en-US" sz="32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分类的准确率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定义输出模型评价指标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metrics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C0B7EF-CAC2-5E2E-5744-4C7A72870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062" y="4418330"/>
            <a:ext cx="775335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83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网络及参数配置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902" y="1192488"/>
            <a:ext cx="11102938" cy="219867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定义优化器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这次使用的是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Momentum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优化方法，同时指定</a:t>
            </a:r>
            <a:r>
              <a:rPr lang="zh-CN" altLang="en-US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学习率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同时，可以很方便的在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中更换不同的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优化函数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其调用方式类似，具体使用方式可以在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的文档中查到。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C32D3D7-A9DE-7A4F-BC79-46AE30DD0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24" y="3570185"/>
            <a:ext cx="5321300" cy="4064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2C3AC60-8EC0-E84B-8A44-79F8C7EDF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24" y="4378039"/>
            <a:ext cx="9042400" cy="4191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FCD78BA-745C-3C42-AA7D-FF6C0BFBB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24" y="5198594"/>
            <a:ext cx="54229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21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模型训练及评估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061" y="1571944"/>
            <a:ext cx="10325528" cy="2517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可以</a:t>
            </a:r>
            <a:r>
              <a:rPr lang="zh-CN" altLang="zh-CN" dirty="0"/>
              <a:t>在全局定义</a:t>
            </a:r>
            <a:r>
              <a:rPr lang="zh-CN" altLang="en-US" dirty="0"/>
              <a:t>框架</a:t>
            </a:r>
            <a:r>
              <a:rPr lang="zh-CN" altLang="zh-CN" dirty="0"/>
              <a:t>运行模式，</a:t>
            </a:r>
            <a:r>
              <a:rPr lang="zh-CN" altLang="en-US" dirty="0"/>
              <a:t>其中</a:t>
            </a:r>
            <a:r>
              <a:rPr lang="en-US" altLang="zh-CN" dirty="0"/>
              <a:t>Ascend</a:t>
            </a:r>
            <a:r>
              <a:rPr lang="zh-CN" altLang="zh-CN" dirty="0"/>
              <a:t>为华为自研的运算芯片，通常使用</a:t>
            </a:r>
            <a:r>
              <a:rPr lang="en-US" altLang="zh-CN" dirty="0"/>
              <a:t>CPU</a:t>
            </a:r>
            <a:r>
              <a:rPr lang="zh-CN" altLang="zh-CN" dirty="0"/>
              <a:t>或</a:t>
            </a:r>
            <a:r>
              <a:rPr lang="en-US" altLang="zh-CN" dirty="0"/>
              <a:t>GPU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这里</a:t>
            </a:r>
            <a:r>
              <a:rPr lang="zh-CN" altLang="zh-CN" dirty="0"/>
              <a:t>需要注意</a:t>
            </a:r>
            <a:r>
              <a:rPr lang="zh-CN" altLang="en-US" dirty="0"/>
              <a:t>使用时所选的运行模型需要</a:t>
            </a:r>
            <a:r>
              <a:rPr lang="zh-CN" altLang="zh-CN" dirty="0"/>
              <a:t>与</a:t>
            </a:r>
            <a:r>
              <a:rPr lang="en-US" altLang="zh-CN" dirty="0" err="1"/>
              <a:t>ModelArts</a:t>
            </a:r>
            <a:r>
              <a:rPr lang="zh-CN" altLang="zh-CN" dirty="0"/>
              <a:t>平台创建的</a:t>
            </a:r>
            <a:r>
              <a:rPr lang="zh-CN" altLang="en-US" dirty="0"/>
              <a:t>的训练任务或</a:t>
            </a:r>
            <a:r>
              <a:rPr lang="en-US" altLang="zh-CN" dirty="0"/>
              <a:t>Notebook</a:t>
            </a:r>
            <a:r>
              <a:rPr lang="zh-CN" altLang="zh-CN" dirty="0"/>
              <a:t>环境相匹配。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4D45B5-E648-864C-8569-721CF13FF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061" y="4379595"/>
            <a:ext cx="1000125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05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模型训练及评估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061" y="1571943"/>
            <a:ext cx="10325528" cy="2988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model.train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执行模型训练。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num_epochs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控制训练轮次，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ds_train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为使用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create_dataset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创建的训练集数据，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callbacks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接收反向传播的处理函数，可以使用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mindspore.train.callback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自动处理，最后的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dataset_sink_mode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通常默认为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，其主要用于大型数据流量处理与模型训练并行的情况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510F65-348A-96B5-8B3C-6C5DA8A99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978" y="4253335"/>
            <a:ext cx="886777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0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C7E4AD7A-45E7-4F67-9700-A153C73EF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模型训练及评估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05A4524-BF70-46B1-BA2A-4EB3D198D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093" y="1202177"/>
            <a:ext cx="3638760" cy="129454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模型测试评估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28FC1CD8-E254-4C01-A6CB-6D79BC64BDA2}"/>
              </a:ext>
            </a:extLst>
          </p:cNvPr>
          <p:cNvSpPr txBox="1">
            <a:spLocks/>
          </p:cNvSpPr>
          <p:nvPr/>
        </p:nvSpPr>
        <p:spPr>
          <a:xfrm>
            <a:off x="6074207" y="1254656"/>
            <a:ext cx="4734337" cy="1189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200" b="1" u="sng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可以看到，模型发生过拟合严重，需要进一步调优。</a:t>
            </a:r>
            <a:endParaRPr lang="en-US" altLang="zh-CN" sz="3200" b="1" u="sng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DC87F5-E4C5-49BE-B22D-4BC06AB5E6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33" r="2713"/>
          <a:stretch/>
        </p:blipFill>
        <p:spPr>
          <a:xfrm>
            <a:off x="743024" y="1907424"/>
            <a:ext cx="4085829" cy="464604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3E92DCB-7F8B-44EC-A631-7566C416A86B}"/>
              </a:ext>
            </a:extLst>
          </p:cNvPr>
          <p:cNvSpPr/>
          <p:nvPr/>
        </p:nvSpPr>
        <p:spPr>
          <a:xfrm>
            <a:off x="3196721" y="2057500"/>
            <a:ext cx="1489753" cy="11895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79E76BF-30D5-476C-8DBC-2BCC2C7C5076}"/>
              </a:ext>
            </a:extLst>
          </p:cNvPr>
          <p:cNvCxnSpPr>
            <a:cxnSpLocks/>
          </p:cNvCxnSpPr>
          <p:nvPr/>
        </p:nvCxnSpPr>
        <p:spPr>
          <a:xfrm>
            <a:off x="2157319" y="3295788"/>
            <a:ext cx="103940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2B0BBB50-810C-C547-BFEE-0F55568AD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287" y="4635406"/>
            <a:ext cx="3111500" cy="16764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2F5B802-87B8-9743-B3F5-BF615FA0E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630" y="4635406"/>
            <a:ext cx="2743200" cy="17018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FB46DC4-0C63-324D-85F8-06A1E98CDE19}"/>
              </a:ext>
            </a:extLst>
          </p:cNvPr>
          <p:cNvSpPr/>
          <p:nvPr/>
        </p:nvSpPr>
        <p:spPr>
          <a:xfrm>
            <a:off x="6074207" y="3280325"/>
            <a:ext cx="50281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尝试加入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dropout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，设置比例为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C676FEB-ABE5-3949-B08D-5F8E0F60B1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697" y="3915917"/>
            <a:ext cx="30099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1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284C4551-9F19-40E2-8CBE-67C4F353B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169"/>
          <a:stretch/>
        </p:blipFill>
        <p:spPr>
          <a:xfrm>
            <a:off x="221755" y="1017412"/>
            <a:ext cx="4521290" cy="4123664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C7E4AD7A-45E7-4F67-9700-A153C73EF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模型优化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28FC1CD8-E254-4C01-A6CB-6D79BC64BDA2}"/>
              </a:ext>
            </a:extLst>
          </p:cNvPr>
          <p:cNvSpPr txBox="1">
            <a:spLocks/>
          </p:cNvSpPr>
          <p:nvPr/>
        </p:nvSpPr>
        <p:spPr>
          <a:xfrm>
            <a:off x="5351928" y="867203"/>
            <a:ext cx="6605585" cy="4424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可以看到，模型过拟合得到显著改善。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但是模型准确率却没有提升，这是由于原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LeNet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网络结构过于简单，已经接近性能瓶颈。由于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cifa-10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数据集的图片尺寸较小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(32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×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32)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，故无法使用更为复杂的卷积结构。</a:t>
            </a:r>
            <a:r>
              <a:rPr lang="zh-CN" altLang="en-US" b="1" u="sng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可以考虑增加卷积深度（卷积核大小以及卷积核个数）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14D7CC-9F12-4744-8DA3-FEC7C4CD1AA9}"/>
              </a:ext>
            </a:extLst>
          </p:cNvPr>
          <p:cNvCxnSpPr>
            <a:cxnSpLocks/>
          </p:cNvCxnSpPr>
          <p:nvPr/>
        </p:nvCxnSpPr>
        <p:spPr>
          <a:xfrm>
            <a:off x="2055740" y="4623703"/>
            <a:ext cx="108905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DBA6815D-B678-C145-AEE5-0B0BA4D78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555" y="4623703"/>
            <a:ext cx="6202172" cy="20455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E914EF4-57BB-5B4B-B0A3-B19FE9D0F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55" y="5646501"/>
            <a:ext cx="49784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0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4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模型预测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44" y="1160982"/>
            <a:ext cx="10415997" cy="309038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图像预处理</a:t>
            </a:r>
          </a:p>
          <a:p>
            <a:pPr marL="0" indent="0">
              <a:buNone/>
            </a:pP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</a:t>
            </a:r>
            <a:r>
              <a:rPr lang="en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mindspore.dataset.vision.c_transforms</a:t>
            </a:r>
            <a:r>
              <a:rPr lang="zh-CN" altLang="e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图像处理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CV.Resize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可以将图像压缩扩增，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Rescale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可以进行归一化，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HWC2CHW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进行通道转换，这里是作为灰度化使用。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63C0FA-79E0-7140-B356-CD2FEC99B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44" y="4952670"/>
            <a:ext cx="112395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6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19293EE-00E9-4018-9972-02CC9F2B9A23}"/>
              </a:ext>
            </a:extLst>
          </p:cNvPr>
          <p:cNvSpPr txBox="1">
            <a:spLocks/>
          </p:cNvSpPr>
          <p:nvPr/>
        </p:nvSpPr>
        <p:spPr>
          <a:xfrm>
            <a:off x="665811" y="1313388"/>
            <a:ext cx="10284432" cy="852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批量预测，并编号输出结果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A983E70-7FBB-4E49-B34B-206F3698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4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模型预测（批量图像）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972CED-B228-684F-BA61-0A9AED352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36" y="1908926"/>
            <a:ext cx="9039038" cy="474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68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36357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4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模型预测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EF2AEB4-8377-4E27-B897-6A33EE969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863" y="1361920"/>
            <a:ext cx="8080274" cy="513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6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36357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4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模型预测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2D4135-0D5E-41B8-B197-17F2B8918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52" y="1361920"/>
            <a:ext cx="8053495" cy="522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3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751</Words>
  <Application>Microsoft Office PowerPoint</Application>
  <PresentationFormat>宽屏</PresentationFormat>
  <Paragraphs>58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等线</vt:lpstr>
      <vt:lpstr>等线 Light</vt:lpstr>
      <vt:lpstr>黑体</vt:lpstr>
      <vt:lpstr>宋体</vt:lpstr>
      <vt:lpstr>Arial</vt:lpstr>
      <vt:lpstr>Calibri</vt:lpstr>
      <vt:lpstr>Times New Roman</vt:lpstr>
      <vt:lpstr>Wingdings</vt:lpstr>
      <vt:lpstr>Office 主题​​</vt:lpstr>
      <vt:lpstr>LeNet 图像分类</vt:lpstr>
      <vt:lpstr>数据集准备</vt:lpstr>
      <vt:lpstr>数据集准备</vt:lpstr>
      <vt:lpstr>数据集准备</vt:lpstr>
      <vt:lpstr>网络及参数配置</vt:lpstr>
      <vt:lpstr>网络及参数配置</vt:lpstr>
      <vt:lpstr>网络及参数配置</vt:lpstr>
      <vt:lpstr>网络及参数配置</vt:lpstr>
      <vt:lpstr>网络及参数配置</vt:lpstr>
      <vt:lpstr>模型训练及评估</vt:lpstr>
      <vt:lpstr>模型训练及评估</vt:lpstr>
      <vt:lpstr>模型训练及评估</vt:lpstr>
      <vt:lpstr>模型优化</vt:lpstr>
      <vt:lpstr>模型预测</vt:lpstr>
      <vt:lpstr>模型预测（批量图像）</vt:lpstr>
      <vt:lpstr>模型预测</vt:lpstr>
      <vt:lpstr>模型预测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MNIST实验介绍</dc:title>
  <dc:creator>9106</dc:creator>
  <cp:lastModifiedBy>怡浪 赵</cp:lastModifiedBy>
  <cp:revision>86</cp:revision>
  <dcterms:created xsi:type="dcterms:W3CDTF">2020-05-25T09:22:30Z</dcterms:created>
  <dcterms:modified xsi:type="dcterms:W3CDTF">2024-04-29T12:41:04Z</dcterms:modified>
</cp:coreProperties>
</file>