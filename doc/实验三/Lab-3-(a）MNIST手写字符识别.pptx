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7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75AD1F-6216-B749-9DCB-26B5E79FA8D0}">
          <p14:sldIdLst>
            <p14:sldId id="256"/>
            <p14:sldId id="275"/>
            <p14:sldId id="257"/>
            <p14:sldId id="258"/>
            <p14:sldId id="259"/>
            <p14:sldId id="262"/>
            <p14:sldId id="263"/>
            <p14:sldId id="264"/>
            <p14:sldId id="265"/>
            <p14:sldId id="266"/>
            <p14:sldId id="268"/>
            <p14:sldId id="269"/>
            <p14:sldId id="271"/>
            <p14:sldId id="274"/>
          </p14:sldIdLst>
        </p14:section>
        <p14:section name="无标题节" id="{40D30E44-4B43-9B46-975C-5719BE67CA0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5" autoAdjust="0"/>
    <p:restoredTop sz="94646"/>
  </p:normalViewPr>
  <p:slideViewPr>
    <p:cSldViewPr snapToGrid="0">
      <p:cViewPr varScale="1">
        <p:scale>
          <a:sx n="93" d="100"/>
          <a:sy n="93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BFF3B-1498-4A67-8815-7977704C2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4D93E4-D130-4C0F-B3EB-047BAE53C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38BDF-A6D6-427D-AAF9-B0C18683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1FB03-3B65-472A-B95E-934DEB33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B2C63F-7EA4-40EB-A46B-B56671B5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06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69663-7E06-4C8A-81B0-4BD61AFD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A46F3-B5B1-4708-A18E-8A5449568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42EE9-3853-4787-90F8-271E925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D9F367-6D94-4048-987A-78FFC3F6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55792-B6FB-4585-A990-1F791A80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00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4B498-6416-47CE-A3DB-BBF1B0C7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7EE195-FA89-4567-8D21-85C5EC770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504627-B96E-4019-9133-80BE0C9B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E72D8-60BD-4432-84D8-CD682143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8B4E0-1050-4B20-8669-D14F4734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43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F9AC5-34CD-4F77-AAD6-8594BA7F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220CE-0B4F-4413-B888-65F28D4D7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4125D-0150-4733-94A4-8B69FB425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81ECDC-7C84-4FA8-A51A-F154EFF2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415E3F-3EE5-444E-A182-13B91D3F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599084-8946-4501-87C6-5E0563A3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6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E8A21-6529-4015-903E-4DC404E7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961FA-1BD0-4542-B2E2-1C564F2E4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BF6B94-3C3D-48A3-B8D2-5881E849A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8E6D56-015D-41B5-9A75-25C998403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9CDB05-47FB-453D-BEF6-38AB1F6E3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38D73B-B356-4227-851D-E6F25A79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7C7F0B-0DE1-4E94-B0AC-58F196F3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8993AB-9908-4BDB-A6C8-CC38370C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1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3C046-39DD-4F8E-8C7F-B4C3B296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0C804E-51EC-4435-8866-09AB178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0EEBD1-9768-439B-80BE-A533851B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0545C7-D6E2-49A5-AA62-B85E6F41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9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37522C-21DC-46CD-B1D5-1A3A9518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999D90-F232-4160-ABB0-50BC225D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5AB260-564E-4182-8607-2EA107E2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2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3ED41-FE22-4F4B-B5BF-1E7E6158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3A3705-7512-42D2-BCE0-39E80D02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39160E-3843-4ADA-99E5-FDCAF00DE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C176EE-B1B1-4B69-99D4-A1E0889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920EB0-D357-4F9E-BFE6-99F6DB02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42D799-CC43-42E3-9BF5-51FF5426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7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D582C-A514-4270-A2BB-31696F1A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14D3C0-53C7-4D17-8603-B9B28F47C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C1FE32-827F-4F0C-97DC-EFC1EBAA8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6E6F93-1C0E-4CD9-B81C-FCA3CDE4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7637CC-6A78-4753-BB31-234D55ED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5DA2EC-67C7-4973-B55D-B3624BCE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92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46978-B967-4E99-83B6-9DBA159A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13B62D-B575-41B7-BF0B-4EEC89119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49AAE-0A2F-4770-B9F0-D3426B6F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2BF688-B21F-4883-98A5-3A10ABAC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38796-8A2A-491D-BFE5-157DEBAF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17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FAF2FF-6882-4F79-8726-DA99524F7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89CFAE-CDD6-4E44-B4ED-0200D2B65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D4D07-7067-4B25-B7B8-48AAAD33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18F19-3EB9-4190-9F79-955DA880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491B3-0EA0-400C-89E1-31E41CCA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5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23D74F-5589-42F2-B3A4-2ACCA925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775A3-3697-4AEB-877F-5AAE8815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97DE3-D69B-4FA6-9F78-B4F450393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2B6F4-7BDA-4643-BAF7-C73FF8C32EB8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C4E44-E76A-4F7E-A621-F15095C7B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F854E-D33A-4725-BA2C-8E5DDE3ED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91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dspore.cn/tutorials/zh-CN/r2.3.0rc1/beginner/introduction.html" TargetMode="External"/><Relationship Id="rId2" Type="http://schemas.openxmlformats.org/officeDocument/2006/relationships/hyperlink" Target="https://support.huaweicloud.com/productdesc-modelarts/modelarts_01_0001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206B966-5E51-4A0A-ABCE-32855B89A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72" y="338328"/>
            <a:ext cx="4437888" cy="2249424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br>
              <a:rPr lang="en-US" altLang="zh-C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手写字符识别</a:t>
            </a:r>
            <a:endParaRPr lang="zh-CN" altLang="en-US" sz="5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275249-354F-424A-BE92-DF4C3236D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930" y="2185774"/>
            <a:ext cx="4416894" cy="10158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0D2549-5E3D-4160-8604-E26CEBD85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87" y="4774164"/>
            <a:ext cx="7006107" cy="101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3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512D6-2D64-950E-A32C-8624DCCB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59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B19FFA-783A-3BCD-6AAC-F5ABBFB45A42}"/>
              </a:ext>
            </a:extLst>
          </p:cNvPr>
          <p:cNvSpPr txBox="1"/>
          <p:nvPr/>
        </p:nvSpPr>
        <p:spPr>
          <a:xfrm>
            <a:off x="813547" y="1325563"/>
            <a:ext cx="109122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 err="1"/>
              <a:t>ModelArts</a:t>
            </a:r>
            <a:r>
              <a:rPr lang="en-US" altLang="zh-CN" dirty="0"/>
              <a:t> </a:t>
            </a:r>
            <a:r>
              <a:rPr lang="zh-CN" altLang="en-US" dirty="0"/>
              <a:t>平台（</a:t>
            </a:r>
            <a:r>
              <a:rPr lang="zh-CN" altLang="en-US" dirty="0">
                <a:hlinkClick r:id="rId2"/>
              </a:rPr>
              <a:t>什么是</a:t>
            </a:r>
            <a:r>
              <a:rPr lang="en-US" altLang="zh-CN" dirty="0" err="1">
                <a:hlinkClick r:id="rId2"/>
              </a:rPr>
              <a:t>ModelArts_AI</a:t>
            </a:r>
            <a:r>
              <a:rPr lang="zh-CN" altLang="en-US" dirty="0">
                <a:hlinkClick r:id="rId2"/>
              </a:rPr>
              <a:t>开发平台</a:t>
            </a:r>
            <a:r>
              <a:rPr lang="en-US" altLang="zh-CN" dirty="0" err="1">
                <a:hlinkClick r:id="rId2"/>
              </a:rPr>
              <a:t>ModelArts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产品介绍 </a:t>
            </a:r>
            <a:r>
              <a:rPr lang="en-US" altLang="zh-CN" dirty="0">
                <a:hlinkClick r:id="rId2"/>
              </a:rPr>
              <a:t>(huaweicloud.com)</a:t>
            </a:r>
            <a:r>
              <a:rPr lang="zh-CN" altLang="en-US" dirty="0"/>
              <a:t>）：</a:t>
            </a:r>
            <a:endParaRPr lang="en-US" altLang="zh-CN" dirty="0"/>
          </a:p>
          <a:p>
            <a:pPr algn="l"/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ModelArts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是面向</a:t>
            </a:r>
            <a:r>
              <a:rPr lang="en-US" altLang="zh-CN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AI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开发者的一站式开发平台，提供海量数据预处理及半自动化标注、大规模分布式训练、自动化模型生成及端</a:t>
            </a:r>
            <a:r>
              <a:rPr lang="en-US" altLang="zh-CN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-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边</a:t>
            </a:r>
            <a:r>
              <a:rPr lang="en-US" altLang="zh-CN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-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云模型按需部署能力，帮助用户快速创建和部署模型，管理全周期</a:t>
            </a:r>
            <a:r>
              <a:rPr lang="en-US" altLang="zh-CN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AI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工作流。</a:t>
            </a:r>
          </a:p>
          <a:p>
            <a:pPr algn="l"/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“一站式”是指</a:t>
            </a:r>
            <a:r>
              <a:rPr lang="en-US" altLang="zh-CN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AI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开发的各个环节，包括数据处理、算法开发、模型训练、模型部署都可以在</a:t>
            </a:r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ModelArts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上完成。从技术上看，</a:t>
            </a:r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ModelArts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底层支持各种异构计算资源，开发者可以根据需要灵活选择使用，而不需要关心底层的技术。同时，</a:t>
            </a:r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ModelArts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支持</a:t>
            </a:r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Tensorflow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、</a:t>
            </a:r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PyTorch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、</a:t>
            </a:r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MindSpore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等主流开源的</a:t>
            </a:r>
            <a:r>
              <a:rPr lang="en-US" altLang="zh-CN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AI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开发框架，也支持开发者使用自研的算法框架，匹配您的使用习惯。</a:t>
            </a:r>
            <a:endParaRPr lang="en-US" altLang="zh-CN" b="0" i="0" dirty="0">
              <a:solidFill>
                <a:srgbClr val="252B3A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/>
            <a:endParaRPr lang="en-US" altLang="zh-CN" dirty="0">
              <a:solidFill>
                <a:srgbClr val="252B3A"/>
              </a:solidFill>
              <a:highlight>
                <a:srgbClr val="FFFFFF"/>
              </a:highlight>
              <a:latin typeface="-apple-system"/>
            </a:endParaRPr>
          </a:p>
          <a:p>
            <a:pPr algn="l"/>
            <a:endParaRPr lang="en-US" altLang="zh-CN" dirty="0">
              <a:solidFill>
                <a:srgbClr val="252B3A"/>
              </a:solidFill>
              <a:highlight>
                <a:srgbClr val="FFFFFF"/>
              </a:highlight>
              <a:latin typeface="-apple-system"/>
            </a:endParaRPr>
          </a:p>
          <a:p>
            <a:pPr algn="l"/>
            <a:endParaRPr lang="en-US" altLang="zh-CN" dirty="0">
              <a:solidFill>
                <a:srgbClr val="252B3A"/>
              </a:solidFill>
              <a:highlight>
                <a:srgbClr val="FFFFFF"/>
              </a:highlight>
              <a:latin typeface="-apple-system"/>
            </a:endParaRPr>
          </a:p>
          <a:p>
            <a:pPr algn="l"/>
            <a:r>
              <a:rPr lang="en-US" altLang="zh-CN" b="0" i="0" dirty="0" err="1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MindSpore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框架（</a:t>
            </a:r>
            <a:r>
              <a:rPr lang="en-US" altLang="zh-CN" dirty="0" err="1">
                <a:hlinkClick r:id="rId3"/>
              </a:rPr>
              <a:t>MindSpore</a:t>
            </a:r>
            <a:r>
              <a:rPr lang="zh-CN" altLang="en-US" b="0" i="0" dirty="0">
                <a:solidFill>
                  <a:srgbClr val="252B3A"/>
                </a:solidFill>
                <a:effectLst/>
                <a:highlight>
                  <a:srgbClr val="FFFFFF"/>
                </a:highlight>
                <a:latin typeface="-apple-system"/>
              </a:rPr>
              <a:t>）：</a:t>
            </a:r>
            <a:endParaRPr lang="en-US" altLang="zh-CN" b="0" i="0" dirty="0">
              <a:solidFill>
                <a:srgbClr val="252B3A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/>
            <a:r>
              <a:rPr lang="zh-CN" altLang="en-US" b="0" i="0" dirty="0"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昇思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MindSpore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是一个全场景深度学习框架，旨在实现易开发、高效执行、全场景统一部署三大目标。其中，易开发表现为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API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友好、调试难度低；高效执行包括计算效率、数据预处理效率和分布式训练效率；全场景则指框架同时支持云、边缘以及端侧场景。</a:t>
            </a:r>
          </a:p>
          <a:p>
            <a:pPr algn="l"/>
            <a:endParaRPr lang="zh-CN" altLang="en-US" b="0" i="0" dirty="0">
              <a:solidFill>
                <a:srgbClr val="252B3A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56140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数据集准备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63"/>
            <a:ext cx="10515600" cy="25582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MNIST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数据集包含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60000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幅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训练图像和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幅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测试图像。分为图像和标签，图像是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28*28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的像素矩阵，标签为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0~9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个数字。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/>
          </a:p>
          <a:p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A516F0-892F-42EC-A65F-30F13E80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46" y="4269571"/>
            <a:ext cx="7006107" cy="101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4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C5FCC8F-B117-40FF-9C28-84CD3DBFB8EE}"/>
              </a:ext>
            </a:extLst>
          </p:cNvPr>
          <p:cNvSpPr txBox="1">
            <a:spLocks/>
          </p:cNvSpPr>
          <p:nvPr/>
        </p:nvSpPr>
        <p:spPr>
          <a:xfrm>
            <a:off x="636143" y="1164011"/>
            <a:ext cx="5179030" cy="53802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创建华为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OBS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桶及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dataset-</a:t>
            </a:r>
            <a:r>
              <a:rPr lang="en-US" altLang="zh-CN" sz="32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mnist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文件夹</a:t>
            </a:r>
            <a:endParaRPr lang="zh-CN" altLang="en-US" sz="32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MNIST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数据集并上传至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OBS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dataset-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mnist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文件夹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mindspore.dataset.MnistDataset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MNIST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</a:t>
            </a:r>
            <a:endParaRPr lang="en-US" altLang="zh-CN" sz="3200" dirty="0"/>
          </a:p>
          <a:p>
            <a:endParaRPr lang="en-US" altLang="zh-CN" sz="3200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3741A0-7030-427D-B99F-61ACED4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数据集准备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67976F-4D01-04F4-648F-92457F6BF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311" y="77453"/>
            <a:ext cx="5667375" cy="42005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B38F2E7-E030-0D1D-28CB-95176610A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389" y="4336677"/>
            <a:ext cx="6480560" cy="229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6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59" y="77453"/>
            <a:ext cx="10473195" cy="1253507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59" y="1150706"/>
            <a:ext cx="5757805" cy="5629841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定义一个简单的多层感知器，一共三层，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大小为</a:t>
            </a:r>
            <a:r>
              <a:rPr lang="en-US" altLang="zh-CN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隐层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和一个大小为</a:t>
            </a:r>
            <a:r>
              <a:rPr lang="en-US" altLang="zh-CN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输出层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 因为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MNIST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数据集是手写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的灰度图像，类别有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个，所以最后的输出大小是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。最后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输出层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的激活函数是</a:t>
            </a:r>
            <a:r>
              <a:rPr lang="en-US" altLang="zh-CN" sz="3500" b="1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Softmax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，所以最后的输出层相当于一个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分类器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 加上一个输入层的话，多层感知器的结构是：输入层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隐层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隐层</a:t>
            </a:r>
            <a:r>
              <a:rPr lang="en-US" altLang="zh-CN" sz="35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35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输出层</a:t>
            </a:r>
            <a:r>
              <a:rPr lang="zh-CN" altLang="en-US" sz="35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/>
          </a:p>
          <a:p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6AB5B7-8451-4300-BFFB-83B684B2F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152" y="1403016"/>
            <a:ext cx="5793719" cy="469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8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CC9176-FECC-4D23-83AC-8522C4E2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3" y="1508166"/>
            <a:ext cx="6244553" cy="28069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定义网络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原网络中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hidden1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hidden2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使用的激活函数是</a:t>
            </a:r>
            <a:r>
              <a:rPr lang="en-US" altLang="zh-CN" sz="3200" b="1" dirty="0" err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。为了实现分类，最后一层使用</a:t>
            </a:r>
            <a:r>
              <a:rPr lang="en-US" altLang="zh-CN" sz="3200" b="1" dirty="0" err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softmax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作为激活。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dirty="0"/>
              <a:t>输入的是图像数据。图像是</a:t>
            </a:r>
            <a:r>
              <a:rPr lang="en-US" altLang="zh-CN" dirty="0"/>
              <a:t>28 * 28</a:t>
            </a:r>
            <a:r>
              <a:rPr lang="zh-CN" altLang="zh-CN" dirty="0"/>
              <a:t>的灰度图，所以输入的形状是</a:t>
            </a:r>
            <a:r>
              <a:rPr lang="en-US" altLang="zh-CN" dirty="0"/>
              <a:t>[1, 28, 28]</a:t>
            </a:r>
            <a:r>
              <a:rPr lang="zh-CN" altLang="zh-CN" dirty="0"/>
              <a:t>，而</a:t>
            </a:r>
            <a:r>
              <a:rPr lang="en-US" altLang="zh-CN" dirty="0"/>
              <a:t>MLP</a:t>
            </a:r>
            <a:r>
              <a:rPr lang="zh-CN" altLang="zh-CN" dirty="0"/>
              <a:t>隐含层接受一维输入，因此需要使用将灰度图数据拍平为一维</a:t>
            </a:r>
            <a:r>
              <a:rPr lang="en-US" altLang="zh-CN" dirty="0"/>
              <a:t>1x28x28=784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CB0BD81-59A1-41D9-8B45-652BEB1ADE2C}"/>
              </a:ext>
            </a:extLst>
          </p:cNvPr>
          <p:cNvCxnSpPr>
            <a:cxnSpLocks/>
          </p:cNvCxnSpPr>
          <p:nvPr/>
        </p:nvCxnSpPr>
        <p:spPr>
          <a:xfrm>
            <a:off x="3599217" y="6430953"/>
            <a:ext cx="56855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7ABEA5D6-ABF2-38C9-00AA-49B9D7A47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771" y="1572325"/>
            <a:ext cx="4380047" cy="371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2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2" y="1150706"/>
            <a:ext cx="9554966" cy="29469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定义损失函数和准确率评价指标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使用的是</a:t>
            </a:r>
            <a:r>
              <a:rPr lang="zh-CN" altLang="en-US" sz="32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交叉熵损失函数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，在分类任务上比较常用。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还可以定义一个准确率函数，这个可以在训练的时候输出</a:t>
            </a:r>
            <a:r>
              <a:rPr lang="zh-CN" altLang="en-US" sz="32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分类的准确率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定义输出模型评价指标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metrics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E0B5EE-1C51-A1E0-341D-BE42F8A9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90" y="4154860"/>
            <a:ext cx="6825063" cy="258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4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网络及参数配置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02" y="1192488"/>
            <a:ext cx="11102938" cy="21986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定义优化器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这次使用的是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Momentum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优化方法，同时指定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学习率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同时，可以很方便的在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中更换不同的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优化函数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其调用方式类似，具体使用方式可以在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的文档中查到。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C32D3D7-A9DE-7A4F-BC79-46AE30DD0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24" y="3570185"/>
            <a:ext cx="5321300" cy="406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2C3AC60-8EC0-E84B-8A44-79F8C7EDF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24" y="4378039"/>
            <a:ext cx="9042400" cy="419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CD78BA-745C-3C42-AA7D-FF6C0BFBB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24" y="5198594"/>
            <a:ext cx="54229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4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模型训练及评估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1" y="1571944"/>
            <a:ext cx="10325528" cy="2517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可以</a:t>
            </a:r>
            <a:r>
              <a:rPr lang="zh-CN" altLang="zh-CN" dirty="0"/>
              <a:t>在全局定义</a:t>
            </a:r>
            <a:r>
              <a:rPr lang="zh-CN" altLang="en-US" dirty="0"/>
              <a:t>框架</a:t>
            </a:r>
            <a:r>
              <a:rPr lang="zh-CN" altLang="zh-CN" dirty="0"/>
              <a:t>运行模式，</a:t>
            </a:r>
            <a:r>
              <a:rPr lang="zh-CN" altLang="en-US" dirty="0"/>
              <a:t>其中</a:t>
            </a:r>
            <a:r>
              <a:rPr lang="en-US" altLang="zh-CN" dirty="0"/>
              <a:t>Ascend</a:t>
            </a:r>
            <a:r>
              <a:rPr lang="zh-CN" altLang="zh-CN" dirty="0"/>
              <a:t>为华为自研的运算芯片，通常使用</a:t>
            </a:r>
            <a:r>
              <a:rPr lang="en-US" altLang="zh-CN" dirty="0"/>
              <a:t>CPU</a:t>
            </a:r>
            <a:r>
              <a:rPr lang="zh-CN" altLang="zh-CN" dirty="0"/>
              <a:t>或</a:t>
            </a:r>
            <a:r>
              <a:rPr lang="en-US" altLang="zh-CN" dirty="0"/>
              <a:t>GPU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这里</a:t>
            </a:r>
            <a:r>
              <a:rPr lang="zh-CN" altLang="zh-CN" dirty="0"/>
              <a:t>需要注意</a:t>
            </a:r>
            <a:r>
              <a:rPr lang="zh-CN" altLang="en-US" dirty="0"/>
              <a:t>使用时所选的运行模型需要</a:t>
            </a:r>
            <a:r>
              <a:rPr lang="zh-CN" altLang="zh-CN" dirty="0"/>
              <a:t>与</a:t>
            </a:r>
            <a:r>
              <a:rPr lang="en-US" altLang="zh-CN" dirty="0" err="1"/>
              <a:t>ModelArts</a:t>
            </a:r>
            <a:r>
              <a:rPr lang="zh-CN" altLang="zh-CN" dirty="0"/>
              <a:t>平台创建的</a:t>
            </a:r>
            <a:r>
              <a:rPr lang="zh-CN" altLang="en-US" dirty="0"/>
              <a:t>的训练任务或</a:t>
            </a:r>
            <a:r>
              <a:rPr lang="en-US" altLang="zh-CN" dirty="0"/>
              <a:t>Notebook</a:t>
            </a:r>
            <a:r>
              <a:rPr lang="zh-CN" altLang="zh-CN" dirty="0"/>
              <a:t>环境相匹配。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BC083E-27FD-AC82-A2C2-B9C699D7E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4170269"/>
            <a:ext cx="97250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模型训练及评估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1" y="1571943"/>
            <a:ext cx="10325528" cy="2988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model.train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执行模型训练。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num_epochs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控制训练轮次，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ds_train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为使用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create_dataset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创建的训练集数据，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callbacks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接收反向传播的处理函数，可以使用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mindspore.train.callback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自动处理，最后的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dataset_sink_mode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通常默认为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，其主要用于大型数据流量处理与模型训练并行的情况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475CEB-4702-2315-8E7E-A9984849A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4341122"/>
            <a:ext cx="10403541" cy="199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7E4AD7A-45E7-4F67-9700-A153C73E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模型训练及评估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05A4524-BF70-46B1-BA2A-4EB3D198D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70" y="1202177"/>
            <a:ext cx="10272155" cy="32748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训练完成后，可以使用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model.predict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可以对单个对象进行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推理测试，返回测试结果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也可以使用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model.eval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执行测试验证，返回模型参数和性能评价指标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19C242-EA69-DB43-81C1-F2E751645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723" y="2527740"/>
            <a:ext cx="4445000" cy="7747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C9400F-8634-AB41-AD62-516A1B185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253" y="3994397"/>
            <a:ext cx="5664200" cy="482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9D7AE9-FDF2-82F7-067F-81A2276D7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253" y="4599769"/>
            <a:ext cx="6658255" cy="218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18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模型预测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44" y="1160982"/>
            <a:ext cx="10415997" cy="30903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图像预处理</a:t>
            </a:r>
          </a:p>
          <a:p>
            <a:pPr marL="0" indent="0">
              <a:buNone/>
            </a:pP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en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mindspore.dataset.vision.c_transforms</a:t>
            </a:r>
            <a:r>
              <a:rPr lang="zh-CN" altLang="e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图像处理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CV.Resize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可以将图像压缩扩增，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Rescale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可以进行归一化，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HWC2CHW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进行通道转换，这里是作为灰度化使用。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63C0FA-79E0-7140-B356-CD2FEC99B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4" y="4952670"/>
            <a:ext cx="112395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1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19293EE-00E9-4018-9972-02CC9F2B9A23}"/>
              </a:ext>
            </a:extLst>
          </p:cNvPr>
          <p:cNvSpPr txBox="1">
            <a:spLocks/>
          </p:cNvSpPr>
          <p:nvPr/>
        </p:nvSpPr>
        <p:spPr>
          <a:xfrm>
            <a:off x="665811" y="1313388"/>
            <a:ext cx="10284432" cy="852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批量预测，并编号输出结果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A983E70-7FBB-4E49-B34B-206F3698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模型预测（批量图像）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C8580EA-987A-6740-AE3F-8CFC48722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97" y="1941354"/>
            <a:ext cx="8943654" cy="467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3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-115587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模型预测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209" y="998765"/>
            <a:ext cx="10284432" cy="85275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预测结果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5" name="图片 4" descr="电脑萤幕的截图&#10;&#10;描述已自动生成">
            <a:extLst>
              <a:ext uri="{FF2B5EF4-FFF2-40B4-BE49-F238E27FC236}">
                <a16:creationId xmlns:a16="http://schemas.microsoft.com/office/drawing/2014/main" id="{71265B85-814D-4809-89CF-BBE87EA63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608" y="1700373"/>
            <a:ext cx="9554033" cy="508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5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833</Words>
  <Application>Microsoft Office PowerPoint</Application>
  <PresentationFormat>宽屏</PresentationFormat>
  <Paragraphs>59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-apple-system</vt:lpstr>
      <vt:lpstr>等线</vt:lpstr>
      <vt:lpstr>等线 Light</vt:lpstr>
      <vt:lpstr>宋体</vt:lpstr>
      <vt:lpstr>Arial</vt:lpstr>
      <vt:lpstr>Calibri</vt:lpstr>
      <vt:lpstr>Helvetica</vt:lpstr>
      <vt:lpstr>Times New Roman</vt:lpstr>
      <vt:lpstr>Wingdings</vt:lpstr>
      <vt:lpstr>Office 主题​​</vt:lpstr>
      <vt:lpstr>MNIST 手写字符识别</vt:lpstr>
      <vt:lpstr>实验平台</vt:lpstr>
      <vt:lpstr>数据集准备</vt:lpstr>
      <vt:lpstr>数据集准备</vt:lpstr>
      <vt:lpstr>网络及参数配置</vt:lpstr>
      <vt:lpstr>网络及参数配置</vt:lpstr>
      <vt:lpstr>网络及参数配置</vt:lpstr>
      <vt:lpstr>网络及参数配置</vt:lpstr>
      <vt:lpstr>模型训练及评估</vt:lpstr>
      <vt:lpstr>模型训练及评估</vt:lpstr>
      <vt:lpstr>模型训练及评估</vt:lpstr>
      <vt:lpstr>模型预测</vt:lpstr>
      <vt:lpstr>模型预测（批量图像）</vt:lpstr>
      <vt:lpstr>模型预测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MNIST实验介绍</dc:title>
  <dc:creator>9106</dc:creator>
  <cp:lastModifiedBy>审阅意见</cp:lastModifiedBy>
  <cp:revision>86</cp:revision>
  <dcterms:created xsi:type="dcterms:W3CDTF">2020-05-25T09:22:30Z</dcterms:created>
  <dcterms:modified xsi:type="dcterms:W3CDTF">2025-04-13T00:30:19Z</dcterms:modified>
</cp:coreProperties>
</file>