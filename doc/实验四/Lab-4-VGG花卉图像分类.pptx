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4" r:id="rId5"/>
    <p:sldId id="265" r:id="rId6"/>
    <p:sldId id="268" r:id="rId7"/>
    <p:sldId id="266" r:id="rId8"/>
    <p:sldId id="267" r:id="rId9"/>
    <p:sldId id="262" r:id="rId10"/>
    <p:sldId id="270" r:id="rId11"/>
    <p:sldId id="271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5" autoAdjust="0"/>
    <p:restoredTop sz="88084" autoAdjust="0"/>
  </p:normalViewPr>
  <p:slideViewPr>
    <p:cSldViewPr snapToGrid="0">
      <p:cViewPr varScale="1">
        <p:scale>
          <a:sx n="73" d="100"/>
          <a:sy n="73" d="100"/>
        </p:scale>
        <p:origin x="4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C729C-1728-4447-B4D8-029E21DFAFE7}" type="datetimeFigureOut">
              <a:rPr lang="zh-CN" altLang="en-US" smtClean="0"/>
              <a:t>2024/5/3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CE3D6-B7EB-454C-A140-BE03BDBB0A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760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7CE3D6-B7EB-454C-A140-BE03BDBB0A9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396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BFF3B-1498-4A67-8815-7977704C2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D4D93E4-D130-4C0F-B3EB-047BAE53C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638BDF-A6D6-427D-AAF9-B0C186839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C1FB03-3B65-472A-B95E-934DEB33E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B2C63F-7EA4-40EB-A46B-B56671B5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064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D69663-7E06-4C8A-81B0-4BD61AFD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5A46F3-B5B1-4708-A18E-8A5449568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142EE9-3853-4787-90F8-271E9253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D9F367-6D94-4048-987A-78FFC3F6D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55792-B6FB-4585-A990-1F791A80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00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4B498-6416-47CE-A3DB-BBF1B0C7D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7EE195-FA89-4567-8D21-85C5EC770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504627-B96E-4019-9133-80BE0C9B4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E72D8-60BD-4432-84D8-CD6821430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68B4E0-1050-4B20-8669-D14F4734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439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FF9AC5-34CD-4F77-AAD6-8594BA7F6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220CE-0B4F-4413-B888-65F28D4D7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4125D-0150-4733-94A4-8B69FB425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81ECDC-7C84-4FA8-A51A-F154EFF2D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2024/5/3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415E3F-3EE5-444E-A182-13B91D3F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599084-8946-4501-87C6-5E0563A3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961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E8A21-6529-4015-903E-4DC404E7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6961FA-1BD0-4542-B2E2-1C564F2E4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BF6B94-3C3D-48A3-B8D2-5881E849A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8E6D56-015D-41B5-9A75-25C998403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9CDB05-47FB-453D-BEF6-38AB1F6E3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38D73B-B356-4227-851D-E6F25A79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2024/5/3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7C7F0B-0DE1-4E94-B0AC-58F196F32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8993AB-9908-4BDB-A6C8-CC38370C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316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3C046-39DD-4F8E-8C7F-B4C3B296E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0C804E-51EC-4435-8866-09AB1780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2024/5/3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0EEBD1-9768-439B-80BE-A533851B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0545C7-D6E2-49A5-AA62-B85E6F41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69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37522C-21DC-46CD-B1D5-1A3A9518A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2024/5/3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999D90-F232-4160-ABB0-50BC225D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5AB260-564E-4182-8607-2EA107E2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123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3ED41-FE22-4F4B-B5BF-1E7E6158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3A3705-7512-42D2-BCE0-39E80D020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39160E-3843-4ADA-99E5-FDCAF00DE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C176EE-B1B1-4B69-99D4-A1E0889D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2024/5/3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920EB0-D357-4F9E-BFE6-99F6DB02C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42D799-CC43-42E3-9BF5-51FF5426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87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D582C-A514-4270-A2BB-31696F1AE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214D3C0-53C7-4D17-8603-B9B28F47C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C1FE32-827F-4F0C-97DC-EFC1EBAA8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6E6F93-1C0E-4CD9-B81C-FCA3CDE4B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2024/5/3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7637CC-6A78-4753-BB31-234D55ED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5DA2EC-67C7-4973-B55D-B3624BCEC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92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46978-B967-4E99-83B6-9DBA159A1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13B62D-B575-41B7-BF0B-4EEC89119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649AAE-0A2F-4770-B9F0-D3426B6F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2BF688-B21F-4883-98A5-3A10ABAC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C38796-8A2A-491D-BFE5-157DEBAF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17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FAF2FF-6882-4F79-8726-DA99524F7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89CFAE-CDD6-4E44-B4ED-0200D2B65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8D4D07-7067-4B25-B7B8-48AAAD33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B6F4-7BDA-4643-BAF7-C73FF8C32EB8}" type="datetimeFigureOut">
              <a:rPr lang="zh-CN" altLang="en-US" smtClean="0"/>
              <a:t>2024/5/3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718F19-3EB9-4190-9F79-955DA880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0491B3-0EA0-400C-89E1-31E41CCA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956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23D74F-5589-42F2-B3A4-2ACCA925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D775A3-3697-4AEB-877F-5AAE88154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297DE3-D69B-4FA6-9F78-B4F450393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2B6F4-7BDA-4643-BAF7-C73FF8C32EB8}" type="datetimeFigureOut">
              <a:rPr lang="zh-CN" altLang="en-US" smtClean="0"/>
              <a:t>2024/5/3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C4E44-E76A-4F7E-A621-F15095C7B2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DF854E-D33A-4725-BA2C-8E5DDE3ED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DF065-0188-425D-A4F9-159D2B6063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91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jyy555555/article/details/8051556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s://arxiv.org/abs/1409.1556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白色的蒲公英&#10;&#10;描述已自动生成">
            <a:extLst>
              <a:ext uri="{FF2B5EF4-FFF2-40B4-BE49-F238E27FC236}">
                <a16:creationId xmlns:a16="http://schemas.microsoft.com/office/drawing/2014/main" id="{6BF53FD9-C363-4C0F-BD58-DA085280A4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1" r="1" b="10434"/>
          <a:stretch/>
        </p:blipFill>
        <p:spPr>
          <a:xfrm>
            <a:off x="6256859" y="1190368"/>
            <a:ext cx="2646677" cy="2232361"/>
          </a:xfrm>
          <a:prstGeom prst="rect">
            <a:avLst/>
          </a:prstGeom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FDA47BC-3069-47F5-8257-24B3B1F76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2927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黄色的花&#10;&#10;描述已自动生成">
            <a:extLst>
              <a:ext uri="{FF2B5EF4-FFF2-40B4-BE49-F238E27FC236}">
                <a16:creationId xmlns:a16="http://schemas.microsoft.com/office/drawing/2014/main" id="{00AA291F-C6E3-4AC4-9EAB-281334D4FC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" r="2" b="2"/>
          <a:stretch/>
        </p:blipFill>
        <p:spPr>
          <a:xfrm>
            <a:off x="3286755" y="1343173"/>
            <a:ext cx="2648371" cy="1926753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7AE95D8F-9825-4222-8846-E3461598C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206B966-5E51-4A0A-ABCE-32855B89A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538" y="4756638"/>
            <a:ext cx="11139854" cy="930447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VGG</a:t>
            </a:r>
            <a:r>
              <a:rPr lang="zh-CN" altLang="en-US" sz="5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花卉图像分类</a:t>
            </a:r>
            <a:endParaRPr lang="zh-CN" altLang="en-US" sz="5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D6D474-4207-4D3D-A9A5-8A89CEDD4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63800" y="1443511"/>
            <a:ext cx="3028200" cy="1726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42B920A-73AD-402A-8EEF-B88E1A93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68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0C9EB70-BC82-414A-BF8D-AD7FC6727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609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 descr="红色的花&#10;&#10;描述已自动生成">
            <a:extLst>
              <a:ext uri="{FF2B5EF4-FFF2-40B4-BE49-F238E27FC236}">
                <a16:creationId xmlns:a16="http://schemas.microsoft.com/office/drawing/2014/main" id="{C7A0AB69-0150-4C42-AF21-F78768F52F0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" r="6034" b="3"/>
          <a:stretch/>
        </p:blipFill>
        <p:spPr>
          <a:xfrm>
            <a:off x="320886" y="1343173"/>
            <a:ext cx="2648372" cy="1930817"/>
          </a:xfrm>
          <a:prstGeom prst="rect">
            <a:avLst/>
          </a:prstGeom>
        </p:spPr>
      </p:pic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217665F-0036-444A-8D4A-33AF36A36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61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3684CCF-CEBB-4D8E-A366-95E43D4C7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557" y="1825625"/>
            <a:ext cx="4933462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使用公开鲜花据集，数据集压缩包里包含五个文件夹，每个文件夹一种花卉。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分别是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雏菊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蒲公英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玫瑰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向日葵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郁金香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。每种各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690 - 890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张不等。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3200" b="1" dirty="0"/>
          </a:p>
          <a:p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3200" b="1" dirty="0"/>
          </a:p>
        </p:txBody>
      </p:sp>
      <p:pic>
        <p:nvPicPr>
          <p:cNvPr id="10" name="图片 9" descr="红色的花&#10;&#10;描述已自动生成">
            <a:extLst>
              <a:ext uri="{FF2B5EF4-FFF2-40B4-BE49-F238E27FC236}">
                <a16:creationId xmlns:a16="http://schemas.microsoft.com/office/drawing/2014/main" id="{150D9282-8899-4E5A-98C3-C427B69DAB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8" r="2" b="2"/>
          <a:stretch/>
        </p:blipFill>
        <p:spPr>
          <a:xfrm>
            <a:off x="6863996" y="3154859"/>
            <a:ext cx="4030579" cy="3703141"/>
          </a:xfrm>
          <a:custGeom>
            <a:avLst/>
            <a:gdLst/>
            <a:ahLst/>
            <a:cxnLst/>
            <a:rect l="l" t="t" r="r" b="b"/>
            <a:pathLst>
              <a:path w="4030579" h="3703141">
                <a:moveTo>
                  <a:pt x="2015289" y="0"/>
                </a:moveTo>
                <a:cubicBezTo>
                  <a:pt x="3128303" y="0"/>
                  <a:pt x="4030579" y="902277"/>
                  <a:pt x="4030579" y="2015290"/>
                </a:cubicBezTo>
                <a:cubicBezTo>
                  <a:pt x="4030579" y="2710923"/>
                  <a:pt x="3678127" y="3324237"/>
                  <a:pt x="3142057" y="3686399"/>
                </a:cubicBezTo>
                <a:lnTo>
                  <a:pt x="3114499" y="3703141"/>
                </a:lnTo>
                <a:lnTo>
                  <a:pt x="916080" y="3703141"/>
                </a:lnTo>
                <a:lnTo>
                  <a:pt x="888522" y="3686399"/>
                </a:lnTo>
                <a:cubicBezTo>
                  <a:pt x="352452" y="3324237"/>
                  <a:pt x="0" y="2710923"/>
                  <a:pt x="0" y="2015290"/>
                </a:cubicBezTo>
                <a:cubicBezTo>
                  <a:pt x="0" y="902277"/>
                  <a:pt x="902277" y="0"/>
                  <a:pt x="2015289" y="0"/>
                </a:cubicBezTo>
                <a:close/>
              </a:path>
            </a:pathLst>
          </a:custGeom>
        </p:spPr>
      </p:pic>
      <p:sp>
        <p:nvSpPr>
          <p:cNvPr id="17" name="Arc 16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10869" y="-729072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F92ECCB-F99F-4BA1-B1E5-2DC2EAD5F9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13" r="8630" b="-2"/>
          <a:stretch/>
        </p:blipFill>
        <p:spPr>
          <a:xfrm>
            <a:off x="63058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pic>
        <p:nvPicPr>
          <p:cNvPr id="6" name="图片 5" descr="黄色和白色的花&#10;&#10;描述已自动生成">
            <a:extLst>
              <a:ext uri="{FF2B5EF4-FFF2-40B4-BE49-F238E27FC236}">
                <a16:creationId xmlns:a16="http://schemas.microsoft.com/office/drawing/2014/main" id="{37B69DE3-2703-41B9-825D-98CFFF11C9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5" r="40643" b="1"/>
          <a:stretch/>
        </p:blipFill>
        <p:spPr>
          <a:xfrm>
            <a:off x="9933462" y="372217"/>
            <a:ext cx="2258539" cy="3554668"/>
          </a:xfrm>
          <a:custGeom>
            <a:avLst/>
            <a:gdLst/>
            <a:ahLst/>
            <a:cxnLst/>
            <a:rect l="l" t="t" r="r" b="b"/>
            <a:pathLst>
              <a:path w="2258539" h="3554668">
                <a:moveTo>
                  <a:pt x="1777334" y="0"/>
                </a:moveTo>
                <a:cubicBezTo>
                  <a:pt x="1900033" y="0"/>
                  <a:pt x="2019829" y="12434"/>
                  <a:pt x="2135529" y="36109"/>
                </a:cubicBezTo>
                <a:lnTo>
                  <a:pt x="2258539" y="67738"/>
                </a:lnTo>
                <a:lnTo>
                  <a:pt x="2258539" y="3486930"/>
                </a:lnTo>
                <a:lnTo>
                  <a:pt x="2135529" y="3518559"/>
                </a:lnTo>
                <a:cubicBezTo>
                  <a:pt x="2019829" y="3542235"/>
                  <a:pt x="1900033" y="3554668"/>
                  <a:pt x="1777334" y="3554668"/>
                </a:cubicBezTo>
                <a:cubicBezTo>
                  <a:pt x="795739" y="3554668"/>
                  <a:pt x="0" y="2758929"/>
                  <a:pt x="0" y="1777334"/>
                </a:cubicBezTo>
                <a:cubicBezTo>
                  <a:pt x="0" y="795740"/>
                  <a:pt x="795739" y="0"/>
                  <a:pt x="1777334" y="0"/>
                </a:cubicBezTo>
                <a:close/>
              </a:path>
            </a:pathLst>
          </a:custGeom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40FF92A7-2436-45B1-AD16-EA720C72AA12}"/>
              </a:ext>
            </a:extLst>
          </p:cNvPr>
          <p:cNvSpPr txBox="1">
            <a:spLocks/>
          </p:cNvSpPr>
          <p:nvPr/>
        </p:nvSpPr>
        <p:spPr>
          <a:xfrm>
            <a:off x="221755" y="774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数据集介绍</a:t>
            </a:r>
          </a:p>
        </p:txBody>
      </p:sp>
    </p:spTree>
    <p:extLst>
      <p:ext uri="{BB962C8B-B14F-4D97-AF65-F5344CB8AC3E}">
        <p14:creationId xmlns:p14="http://schemas.microsoft.com/office/powerpoint/2010/main" val="123614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C5FCC8F-B117-40FF-9C28-84CD3DBFB8EE}"/>
              </a:ext>
            </a:extLst>
          </p:cNvPr>
          <p:cNvSpPr txBox="1">
            <a:spLocks/>
          </p:cNvSpPr>
          <p:nvPr/>
        </p:nvSpPr>
        <p:spPr>
          <a:xfrm>
            <a:off x="838200" y="1492782"/>
            <a:ext cx="10515600" cy="31305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牛津大学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VGG(Visual Geometry Group)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组在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2014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ILSVRC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提出的模型被称作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VGG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它的核心是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五组卷积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操作，每两组之间做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Max-Pooling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空间降维。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同一组内采用多次连续的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×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卷积，卷积核的数目由较浅组的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64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增多到最深组的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512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，同一组内的卷积核数目是一样的。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卷积之后接两层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全连接层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，之后是分类层。由于每组内卷积层的不同，有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层这几种模型。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3200" b="1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43741A0-7030-427D-B99F-61ACED4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网络介绍</a:t>
            </a:r>
          </a:p>
        </p:txBody>
      </p:sp>
    </p:spTree>
    <p:extLst>
      <p:ext uri="{BB962C8B-B14F-4D97-AF65-F5344CB8AC3E}">
        <p14:creationId xmlns:p14="http://schemas.microsoft.com/office/powerpoint/2010/main" val="184846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C5FCC8F-B117-40FF-9C28-84CD3DBFB8EE}"/>
              </a:ext>
            </a:extLst>
          </p:cNvPr>
          <p:cNvSpPr txBox="1">
            <a:spLocks/>
          </p:cNvSpPr>
          <p:nvPr/>
        </p:nvSpPr>
        <p:spPr>
          <a:xfrm>
            <a:off x="410967" y="1092092"/>
            <a:ext cx="9854184" cy="5524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VGG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模型结构相对简洁，提出之后也有很多文章基于此模型进行研究，如在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ImageNet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上首次公开超过人眼识别的模型就是借鉴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VGG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模型的结构，右图展示一个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层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的网络结构。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200" b="1" dirty="0" err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VGGNet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验证了几个小卷积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</a:t>
            </a:r>
            <a:r>
              <a:rPr lang="en-US" altLang="zh-CN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×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的组合比一个大的卷积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(5</a:t>
            </a:r>
            <a:r>
              <a:rPr lang="en-US" altLang="zh-CN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×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的效果要好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，相同感受野的情况下，减少网络参数的同时加深了网络的层数，更多非线性层的引入提高了模型对复杂模式的学习能力。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参考连接：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VGG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网络模型详解</a:t>
            </a:r>
            <a:b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论文原文：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Very Deep Convolutional Networks for Large-Scale Image Recognition</a:t>
            </a:r>
            <a:endParaRPr lang="en-US" altLang="zh-CN" sz="32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43741A0-7030-427D-B99F-61ACED4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网络介绍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32CEF41-F8DA-4C34-8A1E-55FE7FA135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771787" y="2493364"/>
            <a:ext cx="6801411" cy="181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35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C5FCC8F-B117-40FF-9C28-84CD3DBFB8EE}"/>
              </a:ext>
            </a:extLst>
          </p:cNvPr>
          <p:cNvSpPr txBox="1">
            <a:spLocks/>
          </p:cNvSpPr>
          <p:nvPr/>
        </p:nvSpPr>
        <p:spPr>
          <a:xfrm>
            <a:off x="544607" y="1403016"/>
            <a:ext cx="5842746" cy="9113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将下载好的花朵数据集解压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并处理为标准格式，划分为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train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的标准集</a:t>
            </a:r>
            <a:endParaRPr lang="en-US" altLang="zh-CN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3200" b="1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43741A0-7030-427D-B99F-61ACED4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实验准备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34002D-A502-1B45-8BA0-683F985B0F87}"/>
              </a:ext>
            </a:extLst>
          </p:cNvPr>
          <p:cNvSpPr txBox="1"/>
          <p:nvPr/>
        </p:nvSpPr>
        <p:spPr>
          <a:xfrm>
            <a:off x="7453407" y="1405606"/>
            <a:ext cx="41514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上传到</a:t>
            </a:r>
            <a:r>
              <a:rPr kumimoji="1" lang="en-US" altLang="zh-CN" sz="3200" dirty="0"/>
              <a:t>OBS</a:t>
            </a:r>
            <a:r>
              <a:rPr kumimoji="1" lang="zh-CN" altLang="en-US" sz="3200" dirty="0"/>
              <a:t>服务器</a:t>
            </a:r>
            <a:r>
              <a:rPr kumimoji="1" lang="en-US" altLang="zh-CN" sz="3200" dirty="0"/>
              <a:t>dataset-flower</a:t>
            </a:r>
            <a:r>
              <a:rPr kumimoji="1" lang="zh-CN" altLang="en-US" sz="3200" dirty="0"/>
              <a:t>文件夹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40B00FF-254B-B54B-9B7F-99D70270A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3253423"/>
            <a:ext cx="3378200" cy="30087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7789051-70F9-2046-BDA4-E15883FFB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534" y="2823881"/>
            <a:ext cx="6463937" cy="368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60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E43741A0-7030-427D-B99F-61ACED4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实验准备</a:t>
            </a:r>
            <a:r>
              <a:rPr lang="en-US" altLang="zh-CN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配置训练参数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8CABF4-8D01-2048-9EAC-72CD791E73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11300" y="1536700"/>
            <a:ext cx="7746999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526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617" y="1135891"/>
            <a:ext cx="5006938" cy="9828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32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moxing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下载数据集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445E6E-5584-6347-9B3D-69992CE4113F}"/>
              </a:ext>
            </a:extLst>
          </p:cNvPr>
          <p:cNvSpPr/>
          <p:nvPr/>
        </p:nvSpPr>
        <p:spPr>
          <a:xfrm>
            <a:off x="478262" y="2419224"/>
            <a:ext cx="10854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对数据集进行处理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01FF46-2B81-AEEB-3D1F-D7675E4DA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25" y="1802279"/>
            <a:ext cx="8515350" cy="4667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7F62170-AD79-F611-48DB-C3759045E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50" y="3041799"/>
            <a:ext cx="9792450" cy="365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3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062" y="1150706"/>
            <a:ext cx="8555681" cy="10209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zh-CN" sz="3200" dirty="0"/>
              <a:t>根据数据集存储相对地址，使用</a:t>
            </a:r>
            <a:r>
              <a:rPr lang="en-US" altLang="zh-CN" sz="3200" dirty="0" err="1"/>
              <a:t>mindspore</a:t>
            </a:r>
            <a:r>
              <a:rPr lang="zh-CN" altLang="zh-CN" sz="3200" dirty="0"/>
              <a:t>提供的数据集处理函数生成数据对象 </a:t>
            </a:r>
            <a:endParaRPr kumimoji="1" lang="zh-CN" altLang="en-US" sz="3200" dirty="0"/>
          </a:p>
          <a:p>
            <a:pPr>
              <a:buFont typeface="Wingdings" panose="05000000000000000000" pitchFamily="2" charset="2"/>
              <a:buChar char="l"/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68253B-60EB-D74F-1606-210FA5584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55" y="2908219"/>
            <a:ext cx="7799900" cy="35561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B8DA45-1C00-BA46-A2FE-2377ACC44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487" y="3106710"/>
            <a:ext cx="4204513" cy="330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25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网络定义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CCC9176-FECC-4D23-83AC-8522C4E27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013" y="1037693"/>
            <a:ext cx="10962526" cy="570729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定义网络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实验选用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VGG16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进行网络训练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VGG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系列中不同的网络结构类似。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可以登记所有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VGG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的网络卷积结构，在后期方便的使用循环定义不同深度的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VGG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P.S. 16 =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2+2+3+3+3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FC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32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80E70A9-97A7-4ADF-990E-E24126BA8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4511" y="3159354"/>
            <a:ext cx="4103613" cy="369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932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36357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网络定义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CCC9176-FECC-4D23-83AC-8522C4E27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013" y="1037693"/>
            <a:ext cx="7179921" cy="118152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定义卷积模块并循环建立卷积层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99A62C-C8A6-4F49-BD19-AD49AC389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1752600"/>
            <a:ext cx="74422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3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网络定义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CCC9176-FECC-4D23-83AC-8522C4E27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013" y="1037693"/>
            <a:ext cx="8051087" cy="85460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建立</a:t>
            </a:r>
            <a:r>
              <a:rPr lang="zh-CN" altLang="en-US" sz="32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全连接层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并完成网络定义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3C7B33-2351-2140-9BF9-16C152568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55" y="1714500"/>
            <a:ext cx="1093327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5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77453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网络优化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CCC9176-FECC-4D23-83AC-8522C4E27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013" y="1037693"/>
            <a:ext cx="10962526" cy="109590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定义网络优化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实验采用交叉熵损失函数以及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Adam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优化器</a:t>
            </a:r>
            <a:endParaRPr lang="en-US" altLang="zh-CN" sz="32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56ABC2-D4A5-0E40-BC7B-28DAA81466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92174" y="2481064"/>
            <a:ext cx="9521825" cy="143053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135398E-D08B-CA46-90DD-75039748B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0" y="5016500"/>
            <a:ext cx="11671300" cy="1295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94C1374-C5DC-0C4B-9125-F775CCFE6B42}"/>
              </a:ext>
            </a:extLst>
          </p:cNvPr>
          <p:cNvSpPr txBox="1"/>
          <p:nvPr/>
        </p:nvSpPr>
        <p:spPr>
          <a:xfrm>
            <a:off x="1168400" y="4419600"/>
            <a:ext cx="2959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用法</a:t>
            </a:r>
            <a:r>
              <a:rPr kumimoji="1" lang="en-US" altLang="zh-CN" dirty="0"/>
              <a:t>2:</a:t>
            </a:r>
            <a:r>
              <a:rPr kumimoji="1" lang="zh-CN" altLang="en-US" dirty="0"/>
              <a:t> 冻结并优化全链接层</a:t>
            </a:r>
          </a:p>
        </p:txBody>
      </p:sp>
    </p:spTree>
    <p:extLst>
      <p:ext uri="{BB962C8B-B14F-4D97-AF65-F5344CB8AC3E}">
        <p14:creationId xmlns:p14="http://schemas.microsoft.com/office/powerpoint/2010/main" val="269242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36356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网络训练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062" y="1150706"/>
            <a:ext cx="8424808" cy="62672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设置循环训练并设定结束条件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5ADB99-18F4-ABDF-83EF-18640E89A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975" y="2307525"/>
            <a:ext cx="939165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5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-45838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网络训练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1116C6-7711-4D6D-B28F-69AD283A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062" y="1150706"/>
            <a:ext cx="8424808" cy="62672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 完成训练并保存网络参数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99BA2FB-427E-2B4C-80B8-31355CB5B1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89062" y="1965007"/>
            <a:ext cx="8175625" cy="76549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768B52B-68AE-B346-BA0C-A912873CA13D}"/>
              </a:ext>
            </a:extLst>
          </p:cNvPr>
          <p:cNvSpPr txBox="1"/>
          <p:nvPr/>
        </p:nvSpPr>
        <p:spPr>
          <a:xfrm>
            <a:off x="1089062" y="311150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由于网络较大，会运行较长时间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990D375-09AF-9DC3-D122-EE1C34AC7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550" y="3599212"/>
            <a:ext cx="53721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CF30D-3BCD-46D4-852F-0A5955DA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55" y="-4741"/>
            <a:ext cx="10515600" cy="1325563"/>
          </a:xfrm>
        </p:spPr>
        <p:txBody>
          <a:bodyPr>
            <a:normAutofit/>
          </a:bodyPr>
          <a:lstStyle/>
          <a:p>
            <a:pPr marL="742950" indent="-742950">
              <a:buFont typeface="+mj-ea"/>
              <a:buAutoNum type="circleNumDbPlain" startAt="4"/>
            </a:pP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模型测试及准确率计算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F1FCABB0-3E26-49D9-8279-9C6BC3696F32}"/>
              </a:ext>
            </a:extLst>
          </p:cNvPr>
          <p:cNvSpPr txBox="1">
            <a:spLocks/>
          </p:cNvSpPr>
          <p:nvPr/>
        </p:nvSpPr>
        <p:spPr>
          <a:xfrm>
            <a:off x="1089062" y="3692324"/>
            <a:ext cx="9894012" cy="6267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2EEE4A-3BEA-AC4F-B916-8B332F25F5F9}"/>
              </a:ext>
            </a:extLst>
          </p:cNvPr>
          <p:cNvSpPr/>
          <p:nvPr/>
        </p:nvSpPr>
        <p:spPr>
          <a:xfrm>
            <a:off x="1089062" y="4280123"/>
            <a:ext cx="99980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尝试对模型进行分析，在模型训练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epoch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数和模型使用的优化算法上做出改变，进行对比试验，并解释实验结果差异的主要成因。也可以更改网络结构进行对比试验。</a:t>
            </a:r>
            <a:r>
              <a:rPr lang="zh-CN" altLang="zh-CN" sz="2400" dirty="0"/>
              <a:t> </a:t>
            </a:r>
            <a:endParaRPr lang="zh-CN" altLang="en-US" sz="2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E119672-E24B-1F4F-BD19-C181C70FDB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89062" y="5522151"/>
            <a:ext cx="5676900" cy="1092200"/>
          </a:xfrm>
          <a:prstGeom prst="rect">
            <a:avLst/>
          </a:prstGeom>
        </p:spPr>
      </p:pic>
      <p:pic>
        <p:nvPicPr>
          <p:cNvPr id="1026" name="Picture 2" descr="4b6ea8cfb2e9ed2c77ed0314e76737a">
            <a:extLst>
              <a:ext uri="{FF2B5EF4-FFF2-40B4-BE49-F238E27FC236}">
                <a16:creationId xmlns:a16="http://schemas.microsoft.com/office/drawing/2014/main" id="{43134A87-3330-41E8-AF9D-494CBCFF2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277" y="5876398"/>
            <a:ext cx="3909377" cy="81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1677E4A-EBC8-09CA-654B-6100F35E6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062" y="960688"/>
            <a:ext cx="6750300" cy="331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8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520</Words>
  <Application>Microsoft Office PowerPoint</Application>
  <PresentationFormat>宽屏</PresentationFormat>
  <Paragraphs>46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</vt:lpstr>
      <vt:lpstr>等线 Light</vt:lpstr>
      <vt:lpstr>黑体</vt:lpstr>
      <vt:lpstr>宋体</vt:lpstr>
      <vt:lpstr>Arial</vt:lpstr>
      <vt:lpstr>Times New Roman</vt:lpstr>
      <vt:lpstr>Wingdings</vt:lpstr>
      <vt:lpstr>Office 主题​​</vt:lpstr>
      <vt:lpstr>VGG花卉图像分类</vt:lpstr>
      <vt:lpstr>PowerPoint 演示文稿</vt:lpstr>
      <vt:lpstr>网络介绍</vt:lpstr>
      <vt:lpstr>网络介绍</vt:lpstr>
      <vt:lpstr>实验准备</vt:lpstr>
      <vt:lpstr>实验准备-配置训练参数</vt:lpstr>
      <vt:lpstr>数据定义</vt:lpstr>
      <vt:lpstr>数据定义</vt:lpstr>
      <vt:lpstr>网络定义</vt:lpstr>
      <vt:lpstr>网络定义</vt:lpstr>
      <vt:lpstr>网络定义</vt:lpstr>
      <vt:lpstr>网络优化</vt:lpstr>
      <vt:lpstr>网络训练</vt:lpstr>
      <vt:lpstr>网络训练</vt:lpstr>
      <vt:lpstr>模型测试及准确率计算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VGG-Flower 实验介绍</dc:title>
  <dc:creator>9106</dc:creator>
  <cp:lastModifiedBy>审阅意见</cp:lastModifiedBy>
  <cp:revision>93</cp:revision>
  <dcterms:created xsi:type="dcterms:W3CDTF">2020-05-29T03:26:54Z</dcterms:created>
  <dcterms:modified xsi:type="dcterms:W3CDTF">2024-05-03T02:48:54Z</dcterms:modified>
</cp:coreProperties>
</file>