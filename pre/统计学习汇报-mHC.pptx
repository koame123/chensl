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E0121-182D-477B-A4F2-7E4D32B88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8C37EE-CE8E-422F-8022-E793AD87A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6F9B7A-148B-41E0-B0F1-20252330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C433-E91E-4FB3-8E8A-D69B883BBD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A0C562-7732-40F4-B137-A46E07C72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B79D33-1624-448E-8D79-C89E137E8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31CC-408A-47E3-A952-1D6A1CB82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28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2AF89-754C-42FC-B385-9BAA9DD1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225E5E-20C3-46D5-9963-67CCD8AD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3B5A7B-20C6-47E6-82A6-39689A30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C433-E91E-4FB3-8E8A-D69B883BBD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6E71BE-0A92-4B5E-9A7C-F6E2AD9C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B548CA-5339-44BB-84F0-F942D2C3C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31CC-408A-47E3-A952-1D6A1CB82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97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51AF4-F93B-4C58-BDE6-D5E44E370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400F2A-9D50-4B57-803A-5B781F4B6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065A0-E1EE-4C2F-8BF7-9024DF31D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C433-E91E-4FB3-8E8A-D69B883BBD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BCC00-5C14-44A9-A6E0-22ECA02DE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44E4BC-9387-41B5-BADA-5783FA72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31CC-408A-47E3-A952-1D6A1CB82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64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98F13-0325-46BE-A2BD-0CDE8138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4B24E-55CC-4F74-BD7A-BB72C2CDF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58B042-2A1E-4261-9166-9BCE9973A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081373-A5FB-4E0D-BFA1-E8E721036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C433-E91E-4FB3-8E8A-D69B883BBD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084C63-00E9-4F7D-B922-42675FE0A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AD3E29-657D-4A19-807C-F6C70939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31CC-408A-47E3-A952-1D6A1CB82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285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89C49-A868-4912-BA5E-CF2382A1F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7DBE8-3C9D-469C-AF30-BBEE9D219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CB6159-BFCF-40D2-9B2C-A147B66F1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96E46E-D620-4F8B-9821-58AA61901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C36F3FB-D7AF-409B-A3ED-3EC8BF01F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181E4D-BA3F-4FFD-BAB1-5B6BF1197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C433-E91E-4FB3-8E8A-D69B883BBD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0DE580-CA42-4E6E-9F7E-FBAC57D1B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6A2CE2-1DD7-40AF-8530-B6CD4691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31CC-408A-47E3-A952-1D6A1CB82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418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F9769-EF69-4574-941E-82BBB85F9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9B7207-F54D-41B7-A736-DF3D470D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C433-E91E-4FB3-8E8A-D69B883BBD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8C9A4C-785A-4824-BE2A-05F9F2CE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6CF90E-761A-4677-BEE9-B591B9B6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31CC-408A-47E3-A952-1D6A1CB82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37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72D325-0AE9-4FCC-ADBD-9384E3A1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C433-E91E-4FB3-8E8A-D69B883BBD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844B42-A0F7-42B4-8029-7299A5FDF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CC5B50-5FD7-473A-89C9-562CF8EE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31CC-408A-47E3-A952-1D6A1CB82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44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45204-18DF-471D-92D1-F346648AA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E38886-B733-419A-9DA1-1265605C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F42707-291A-4FC3-8FD1-3E5954A32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A7BD47-4A12-4808-9F84-AA337C3C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C433-E91E-4FB3-8E8A-D69B883BBD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23FF2E-AD90-48F7-9903-BFD98D98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C8DB2F-685C-40C5-9F27-EDE5A500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31CC-408A-47E3-A952-1D6A1CB82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51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ABE07-33B9-4518-8441-A1963B139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650639-C6FB-482F-B422-EA83BA966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9D6B6C-8D0A-4D69-81E2-C01AD08E2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F762A-435B-4C23-956E-37BD52B9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C433-E91E-4FB3-8E8A-D69B883BBD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D2D7C4-41F4-4C62-8BED-58FD274AD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65FC3A-42AE-4A2E-A189-A73E1DB3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31CC-408A-47E3-A952-1D6A1CB82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354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76D6A-07D0-4CE7-A455-B005DC51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5F858-A9BE-4D2D-9E5F-AF2E1C757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8DA41C-E988-498F-B261-2DC68A27F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C433-E91E-4FB3-8E8A-D69B883BBD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94CDCB-8373-4045-80F3-CE409BA0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5D2D11-7F0B-472E-8DFB-14DB5641C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31CC-408A-47E3-A952-1D6A1CB82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87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FE432C-4050-48B6-BFFF-87CC57F7A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8CC29D-96CB-423B-86D2-FACAA3884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AD6AA2-26C7-44FC-9DFB-7417C395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C433-E91E-4FB3-8E8A-D69B883BBD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EAAF4B-20C5-4653-B50E-D48002E11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072860-0935-482D-BEB6-9B622E54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31CC-408A-47E3-A952-1D6A1CB82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641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53E30E7-7DFE-4847-88B4-70D2300DB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477DFB-CB65-4232-98DB-260F9EADB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2C5B18-BA7F-44E7-9C3D-4DAE9CB21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1C433-E91E-4FB3-8E8A-D69B883BBD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8CE426-5A1E-432F-9C1B-47CB71EC53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66218B-9D6F-4B26-9B79-0415530AE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C31CC-408A-47E3-A952-1D6A1CB820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5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12.24880v1" TargetMode="External"/><Relationship Id="rId2" Type="http://schemas.openxmlformats.org/officeDocument/2006/relationships/hyperlink" Target="https://arxiv.org/html/2409.19606v3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08FBF-C1F5-485B-99EA-FFF239A3E7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 err="1"/>
              <a:t>mHC:Manifold-Constrained</a:t>
            </a:r>
            <a:r>
              <a:rPr lang="en-US" altLang="zh-CN" b="1" dirty="0"/>
              <a:t> Hyper-Connections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D2D881-4E0C-4550-9F1E-46FFDFB4FB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 err="1"/>
              <a:t>mHC</a:t>
            </a:r>
            <a:r>
              <a:rPr lang="en-US" altLang="zh-CN" sz="4000" b="1" dirty="0"/>
              <a:t>: </a:t>
            </a:r>
            <a:r>
              <a:rPr lang="zh-CN" altLang="en-US" sz="4000" b="1" dirty="0"/>
              <a:t>流形约束的超连接</a:t>
            </a:r>
            <a:endParaRPr lang="en-US" altLang="zh-CN" sz="4000" b="1" dirty="0"/>
          </a:p>
          <a:p>
            <a:r>
              <a:rPr lang="zh-CN" altLang="en-US" b="1" dirty="0"/>
              <a:t>孙霖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9E3B2B-86E8-474F-AFD0-0E1729CED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554" y="4695312"/>
            <a:ext cx="4288891" cy="177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68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86093-1539-4B0D-9FC4-392F78AA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梯度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CFBD384-5A59-466C-8032-ED81E8BF6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396" y="1764504"/>
            <a:ext cx="3820058" cy="1629002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81F3B2-8F53-4131-BA37-2B7FBC408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751072"/>
            <a:ext cx="5906024" cy="30204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1F0138D-50A9-4B84-8858-A4B1B2347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96" y="4367640"/>
            <a:ext cx="7067823" cy="22746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0C919FF-1BE7-4D73-A127-7B36F4BC82BA}"/>
              </a:ext>
            </a:extLst>
          </p:cNvPr>
          <p:cNvSpPr txBox="1"/>
          <p:nvPr/>
        </p:nvSpPr>
        <p:spPr>
          <a:xfrm>
            <a:off x="1366571" y="3528107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用一个简单的函数举例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D0F311-DA94-4A44-B6EB-7870DD913858}"/>
              </a:ext>
            </a:extLst>
          </p:cNvPr>
          <p:cNvSpPr txBox="1"/>
          <p:nvPr/>
        </p:nvSpPr>
        <p:spPr>
          <a:xfrm>
            <a:off x="7796219" y="3884923"/>
            <a:ext cx="272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调整参数使损失最小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8EEE8E-AE87-4A13-855D-83D1FEA50F67}"/>
              </a:ext>
            </a:extLst>
          </p:cNvPr>
          <p:cNvSpPr txBox="1"/>
          <p:nvPr/>
        </p:nvSpPr>
        <p:spPr>
          <a:xfrm>
            <a:off x="8167956" y="5181775"/>
            <a:ext cx="2352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多层神经网络导致的梯度消失</a:t>
            </a:r>
            <a:r>
              <a:rPr lang="en-US" altLang="zh-CN" dirty="0"/>
              <a:t>/</a:t>
            </a:r>
            <a:r>
              <a:rPr lang="zh-CN" altLang="en-US" dirty="0"/>
              <a:t>梯度爆炸</a:t>
            </a:r>
          </a:p>
        </p:txBody>
      </p:sp>
    </p:spTree>
    <p:extLst>
      <p:ext uri="{BB962C8B-B14F-4D97-AF65-F5344CB8AC3E}">
        <p14:creationId xmlns:p14="http://schemas.microsoft.com/office/powerpoint/2010/main" val="1245800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6E3CD-1D4F-49B0-9CB6-737AE0B4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D417E15-5B6F-4584-8FF6-72E65EBBE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6179" y="688975"/>
            <a:ext cx="9159642" cy="435133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992105E-F0BB-415E-A5DA-DE0489AF33F9}"/>
              </a:ext>
            </a:extLst>
          </p:cNvPr>
          <p:cNvSpPr txBox="1"/>
          <p:nvPr/>
        </p:nvSpPr>
        <p:spPr>
          <a:xfrm>
            <a:off x="1895475" y="5429250"/>
            <a:ext cx="8267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令人头疼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梯度裁剪、归一化、合理初始化、优化激活函数</a:t>
            </a:r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00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CD7B7-800D-4725-8718-00E92952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残差链接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FB69989-5D26-47DD-9093-DB75460C5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09739"/>
            <a:ext cx="2524125" cy="63809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C507E86-F54D-44EB-9E74-9818A151F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2551178"/>
            <a:ext cx="3449630" cy="6240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8669B16-2536-49B2-83F6-D8A634BF3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378581"/>
            <a:ext cx="2047875" cy="162012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B49116D-41CC-4676-A296-40C387297A81}"/>
              </a:ext>
            </a:extLst>
          </p:cNvPr>
          <p:cNvSpPr txBox="1"/>
          <p:nvPr/>
        </p:nvSpPr>
        <p:spPr>
          <a:xfrm>
            <a:off x="838200" y="5322724"/>
            <a:ext cx="4657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学习变化的部分比学习整体要来的更简单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F198195-61C3-4942-89AC-50CD09E1F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323" y="1117459"/>
            <a:ext cx="7436108" cy="388124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5BC73E2-6D0A-4734-97C4-F3D27686588D}"/>
              </a:ext>
            </a:extLst>
          </p:cNvPr>
          <p:cNvSpPr txBox="1"/>
          <p:nvPr/>
        </p:nvSpPr>
        <p:spPr>
          <a:xfrm>
            <a:off x="7848600" y="5322724"/>
            <a:ext cx="1790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恒等映射通路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稳定性↑效率↑</a:t>
            </a:r>
          </a:p>
        </p:txBody>
      </p:sp>
    </p:spTree>
    <p:extLst>
      <p:ext uri="{BB962C8B-B14F-4D97-AF65-F5344CB8AC3E}">
        <p14:creationId xmlns:p14="http://schemas.microsoft.com/office/powerpoint/2010/main" val="3418758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7C49A-0C3C-4B63-A5E9-C1C34980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98D64FBA-081A-4165-950F-9822F04FA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9635" y="2760705"/>
            <a:ext cx="4674165" cy="1903804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0FDEEDD-1ACA-49FD-9954-0C529ED98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32" y="1571129"/>
            <a:ext cx="5131168" cy="428295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4DF05BD-E046-4D78-AC0F-7F796DF407A0}"/>
              </a:ext>
            </a:extLst>
          </p:cNvPr>
          <p:cNvSpPr txBox="1"/>
          <p:nvPr/>
        </p:nvSpPr>
        <p:spPr>
          <a:xfrm>
            <a:off x="-495300" y="33432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1797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7077E-6832-471D-A9CB-33F5431DA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超链接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3760C49-8313-4624-BCB8-6462B1CD2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511" y="1690688"/>
            <a:ext cx="2886478" cy="4267796"/>
          </a:xfrm>
        </p:spPr>
      </p:pic>
      <p:pic>
        <p:nvPicPr>
          <p:cNvPr id="6" name="内容占位符 8">
            <a:extLst>
              <a:ext uri="{FF2B5EF4-FFF2-40B4-BE49-F238E27FC236}">
                <a16:creationId xmlns:a16="http://schemas.microsoft.com/office/drawing/2014/main" id="{7849F103-FE35-44B9-80CA-6BDB3370B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211" y="189068"/>
            <a:ext cx="3343275" cy="13617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9269F66-A6B0-43B2-939D-4EFE961E03FD}"/>
              </a:ext>
            </a:extLst>
          </p:cNvPr>
          <p:cNvSpPr txBox="1"/>
          <p:nvPr/>
        </p:nvSpPr>
        <p:spPr>
          <a:xfrm>
            <a:off x="3624038" y="1599826"/>
            <a:ext cx="28864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传统残差链接通道扩展</a:t>
            </a:r>
            <a:r>
              <a:rPr lang="en-US" altLang="zh-CN" dirty="0"/>
              <a:t>n</a:t>
            </a:r>
            <a:r>
              <a:rPr lang="zh-CN" altLang="en-US" dirty="0"/>
              <a:t>倍</a:t>
            </a:r>
            <a:endParaRPr lang="en-US" altLang="zh-CN" dirty="0"/>
          </a:p>
          <a:p>
            <a:r>
              <a:rPr lang="zh-CN" altLang="en-US" dirty="0"/>
              <a:t>引入可学习的变换矩阵管理交互和计算</a:t>
            </a:r>
            <a:endParaRPr lang="en-US" altLang="zh-CN" dirty="0"/>
          </a:p>
          <a:p>
            <a:r>
              <a:rPr lang="zh-CN" altLang="en-US" dirty="0"/>
              <a:t>学到的信息更灵活复杂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792CA01-2DA9-485F-8D9D-E55323B45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989" y="2800155"/>
            <a:ext cx="4137923" cy="36316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7FA1442-9ECE-465F-A9D7-0F049A60C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4546" y="709876"/>
            <a:ext cx="3623682" cy="578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792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7727F-5693-4C14-AC41-BC3846E28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33724F0-97B9-402C-8CD8-BA95E965B3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975" y="5092078"/>
            <a:ext cx="2295525" cy="1413324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E27338C-148E-4A47-B470-2F57CAC5C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331961"/>
            <a:ext cx="8632699" cy="44048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B997BDC-6DE1-44C0-B7F1-B63593B91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376" y="4907412"/>
            <a:ext cx="4530122" cy="1413324"/>
          </a:xfrm>
          <a:prstGeom prst="rect">
            <a:avLst/>
          </a:prstGeom>
          <a:noFill/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E40FE53-4D21-45FB-978F-C3138E2F9DFF}"/>
              </a:ext>
            </a:extLst>
          </p:cNvPr>
          <p:cNvSpPr txBox="1"/>
          <p:nvPr/>
        </p:nvSpPr>
        <p:spPr>
          <a:xfrm>
            <a:off x="3543299" y="6341756"/>
            <a:ext cx="255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连乘！梯度消失</a:t>
            </a:r>
            <a:r>
              <a:rPr lang="en-US" altLang="zh-CN" dirty="0"/>
              <a:t>/</a:t>
            </a:r>
            <a:r>
              <a:rPr lang="zh-CN" altLang="en-US" dirty="0"/>
              <a:t>爆炸？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E1B2715-212F-4289-867C-3D170D8A91FD}"/>
              </a:ext>
            </a:extLst>
          </p:cNvPr>
          <p:cNvSpPr txBox="1"/>
          <p:nvPr/>
        </p:nvSpPr>
        <p:spPr>
          <a:xfrm>
            <a:off x="9477375" y="3429000"/>
            <a:ext cx="2552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给学习矩阵加约束条件</a:t>
            </a:r>
            <a:endParaRPr lang="en-US" altLang="zh-CN" dirty="0"/>
          </a:p>
          <a:p>
            <a:r>
              <a:rPr lang="zh-CN" altLang="en-US" dirty="0"/>
              <a:t>灵活且可控</a:t>
            </a:r>
          </a:p>
        </p:txBody>
      </p:sp>
    </p:spTree>
    <p:extLst>
      <p:ext uri="{BB962C8B-B14F-4D97-AF65-F5344CB8AC3E}">
        <p14:creationId xmlns:p14="http://schemas.microsoft.com/office/powerpoint/2010/main" val="614059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B9877-B96A-4FC0-8092-8403F34A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/>
              <a:t>流形约束的超连接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E66E50-28E6-4F57-89F3-91F0DF03E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To address these challenges, we pro pose Manifold-Constrained Hyper-Connections (</a:t>
            </a:r>
            <a:r>
              <a:rPr lang="en-US" altLang="zh-CN" sz="2000" dirty="0" err="1"/>
              <a:t>mHC</a:t>
            </a:r>
            <a:r>
              <a:rPr lang="en-US" altLang="zh-CN" sz="2000" dirty="0"/>
              <a:t>), a general framework that projects the residual connection space of HC onto a specific manifold to restore the identity mapping property, while incorporating rigorous infrastructure optimization to ensure efficiency. </a:t>
            </a:r>
            <a:r>
              <a:rPr lang="en-US" altLang="zh-CN" sz="2000" dirty="0" err="1"/>
              <a:t>Em</a:t>
            </a:r>
            <a:r>
              <a:rPr lang="en-US" altLang="zh-CN" sz="2000" dirty="0"/>
              <a:t> </a:t>
            </a:r>
            <a:r>
              <a:rPr lang="en-US" altLang="zh-CN" sz="2000" dirty="0" err="1"/>
              <a:t>pirical</a:t>
            </a:r>
            <a:r>
              <a:rPr lang="en-US" altLang="zh-CN" sz="2000" dirty="0"/>
              <a:t> experiments demonstrate that </a:t>
            </a:r>
            <a:r>
              <a:rPr lang="en-US" altLang="zh-CN" sz="2000" dirty="0" err="1"/>
              <a:t>mHC</a:t>
            </a:r>
            <a:r>
              <a:rPr lang="en-US" altLang="zh-CN" sz="2000" dirty="0"/>
              <a:t> is effective for training at scale, offering tangible performance improvements and superior scalability. We anticipate that </a:t>
            </a:r>
            <a:r>
              <a:rPr lang="en-US" altLang="zh-CN" sz="2000" dirty="0" err="1"/>
              <a:t>mHC</a:t>
            </a:r>
            <a:r>
              <a:rPr lang="en-US" altLang="zh-CN" sz="2000" dirty="0"/>
              <a:t>, as a flexible and practical extension of HC, will contribute to a deeper understanding of topological architecture design and suggest promising </a:t>
            </a:r>
            <a:r>
              <a:rPr lang="en-US" altLang="zh-CN" sz="2000" dirty="0" err="1"/>
              <a:t>directios</a:t>
            </a:r>
            <a:r>
              <a:rPr lang="en-US" altLang="zh-CN" sz="2000" dirty="0"/>
              <a:t> for the evolution of foundational models.</a:t>
            </a:r>
            <a:endParaRPr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9106B4-3C5F-4071-B5D5-52FF5BFD1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4333766"/>
            <a:ext cx="7259063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66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1B3C62-F3A2-4A7F-8D24-EE674F770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3C5EE5-8214-46AA-8BE2-AF955F026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808405-65CF-4405-B2A9-8355CBB62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4483"/>
            <a:ext cx="9210622" cy="48148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58AC9C-4F29-4D6F-A8BE-2C933E833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10672"/>
            <a:ext cx="9118565" cy="161131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8BE31DA-EBAC-465C-A1EC-4FF7C2199321}"/>
              </a:ext>
            </a:extLst>
          </p:cNvPr>
          <p:cNvSpPr txBox="1"/>
          <p:nvPr/>
        </p:nvSpPr>
        <p:spPr>
          <a:xfrm>
            <a:off x="10048822" y="3731141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具体算法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81E9AB-3501-4068-99D2-16AFB6FF833E}"/>
              </a:ext>
            </a:extLst>
          </p:cNvPr>
          <p:cNvSpPr txBox="1"/>
          <p:nvPr/>
        </p:nvSpPr>
        <p:spPr>
          <a:xfrm>
            <a:off x="8448675" y="5899690"/>
            <a:ext cx="120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最终目标</a:t>
            </a:r>
          </a:p>
        </p:txBody>
      </p:sp>
    </p:spTree>
    <p:extLst>
      <p:ext uri="{BB962C8B-B14F-4D97-AF65-F5344CB8AC3E}">
        <p14:creationId xmlns:p14="http://schemas.microsoft.com/office/powerpoint/2010/main" val="3038700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4C318-C95E-4445-A01F-78E920B8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BF6CD6EB-5042-40F0-AFD0-11242238F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0157" y="5116513"/>
            <a:ext cx="9091686" cy="1500155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2444594-0F77-4F10-919F-1D866D3DE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050" y="565150"/>
            <a:ext cx="9195900" cy="43513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B79FFB9-3EAC-4FD4-B3B2-033FDBFA4991}"/>
              </a:ext>
            </a:extLst>
          </p:cNvPr>
          <p:cNvSpPr txBox="1"/>
          <p:nvPr/>
        </p:nvSpPr>
        <p:spPr>
          <a:xfrm>
            <a:off x="10525125" y="5305425"/>
            <a:ext cx="1800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连乘可控</a:t>
            </a:r>
            <a:endParaRPr lang="en-US" altLang="zh-CN" dirty="0"/>
          </a:p>
          <a:p>
            <a:r>
              <a:rPr lang="zh-CN" altLang="en-US" dirty="0"/>
              <a:t>没有梯度消失</a:t>
            </a:r>
            <a:r>
              <a:rPr lang="en-US" altLang="zh-CN" dirty="0"/>
              <a:t>/</a:t>
            </a:r>
            <a:r>
              <a:rPr lang="zh-CN" altLang="en-US" dirty="0"/>
              <a:t>爆炸的风险</a:t>
            </a:r>
          </a:p>
        </p:txBody>
      </p:sp>
    </p:spTree>
    <p:extLst>
      <p:ext uri="{BB962C8B-B14F-4D97-AF65-F5344CB8AC3E}">
        <p14:creationId xmlns:p14="http://schemas.microsoft.com/office/powerpoint/2010/main" val="17805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D84FF5-EE82-4001-8752-8A1332FC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效果拔群！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E2B15D37-85E3-4334-962E-C45CBA974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4858" y="3612037"/>
            <a:ext cx="7722283" cy="2356800"/>
          </a:xfr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85AD44F-D6F7-49BC-AD24-BE8A07F739A7}"/>
              </a:ext>
            </a:extLst>
          </p:cNvPr>
          <p:cNvSpPr txBox="1"/>
          <p:nvPr/>
        </p:nvSpPr>
        <p:spPr>
          <a:xfrm>
            <a:off x="3009900" y="6009555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绝对训练损失差距</a:t>
            </a:r>
            <a:r>
              <a:rPr lang="en-US" altLang="zh-CN" dirty="0"/>
              <a:t>-</a:t>
            </a:r>
            <a:r>
              <a:rPr lang="zh-CN" altLang="en-US" dirty="0"/>
              <a:t>训练步数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9EF6CA-B08F-4BC8-8A67-D0F238E4CD01}"/>
              </a:ext>
            </a:extLst>
          </p:cNvPr>
          <p:cNvSpPr txBox="1"/>
          <p:nvPr/>
        </p:nvSpPr>
        <p:spPr>
          <a:xfrm>
            <a:off x="7010400" y="6009555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梯度范数</a:t>
            </a:r>
            <a:r>
              <a:rPr lang="en-US" altLang="zh-CN" dirty="0"/>
              <a:t>-</a:t>
            </a:r>
            <a:r>
              <a:rPr lang="zh-CN" altLang="en-US" dirty="0"/>
              <a:t>训练步数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01E581A-A3B7-4554-BC8E-69AAE4768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179" y="1360449"/>
            <a:ext cx="7287642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05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BAC479-8551-4030-B836-16BDB6D5A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7825"/>
            <a:ext cx="10515600" cy="4351338"/>
          </a:xfrm>
        </p:spPr>
        <p:txBody>
          <a:bodyPr/>
          <a:lstStyle/>
          <a:p>
            <a:r>
              <a:rPr lang="zh-CN" altLang="en-US" dirty="0"/>
              <a:t>最初使用残差连接的方法防止梯度消失</a:t>
            </a:r>
            <a:r>
              <a:rPr lang="en-US" altLang="zh-CN" dirty="0"/>
              <a:t>/</a:t>
            </a:r>
            <a:r>
              <a:rPr lang="zh-CN" altLang="en-US" dirty="0"/>
              <a:t>爆炸</a:t>
            </a:r>
            <a:endParaRPr lang="en-US" altLang="zh-CN" dirty="0"/>
          </a:p>
          <a:p>
            <a:r>
              <a:rPr lang="en-US" altLang="zh-CN" i="0" dirty="0" err="1">
                <a:solidFill>
                  <a:srgbClr val="000000"/>
                </a:solidFill>
                <a:effectLst/>
                <a:latin typeface="+mn-ea"/>
              </a:rPr>
              <a:t>Qiyang</a:t>
            </a:r>
            <a:r>
              <a:rPr lang="en-US" altLang="zh-CN" i="0" dirty="0">
                <a:solidFill>
                  <a:srgbClr val="000000"/>
                </a:solidFill>
                <a:effectLst/>
                <a:latin typeface="+mn-ea"/>
              </a:rPr>
              <a:t> Min, </a:t>
            </a:r>
            <a:r>
              <a:rPr lang="en-US" altLang="zh-CN" i="0" dirty="0" err="1">
                <a:solidFill>
                  <a:srgbClr val="000000"/>
                </a:solidFill>
                <a:effectLst/>
                <a:latin typeface="+mn-ea"/>
              </a:rPr>
              <a:t>Xun</a:t>
            </a:r>
            <a:r>
              <a:rPr lang="en-US" altLang="zh-CN" i="0" dirty="0">
                <a:solidFill>
                  <a:srgbClr val="000000"/>
                </a:solidFill>
                <a:effectLst/>
                <a:latin typeface="+mn-ea"/>
              </a:rPr>
              <a:t> Zhou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+mn-ea"/>
              </a:rPr>
              <a:t>等人提出</a:t>
            </a:r>
            <a:r>
              <a:rPr lang="en-US" altLang="zh-CN" i="0" dirty="0">
                <a:solidFill>
                  <a:srgbClr val="000000"/>
                </a:solidFill>
                <a:effectLst/>
                <a:latin typeface="+mn-ea"/>
              </a:rPr>
              <a:t>HC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+mn-ea"/>
              </a:rPr>
              <a:t>，将传统残差连接的通道变多，并引入学习矩阵提升训练灵活性，但是带来了新的问题</a:t>
            </a:r>
            <a:endParaRPr lang="en-US" altLang="zh-CN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dirty="0" err="1"/>
              <a:t>Zhenda</a:t>
            </a:r>
            <a:r>
              <a:rPr lang="en-US" altLang="zh-CN" dirty="0"/>
              <a:t> </a:t>
            </a:r>
            <a:r>
              <a:rPr lang="en-US" altLang="zh-CN" dirty="0" err="1"/>
              <a:t>Xie</a:t>
            </a:r>
            <a:r>
              <a:rPr lang="zh-CN" altLang="en-US" dirty="0"/>
              <a:t>等人提出</a:t>
            </a:r>
            <a:r>
              <a:rPr lang="en-US" altLang="zh-CN" dirty="0" err="1"/>
              <a:t>mHC</a:t>
            </a:r>
            <a:r>
              <a:rPr lang="zh-CN" altLang="en-US" dirty="0"/>
              <a:t>，借助双随机矩阵流形与相应的映射方法，让学习矩阵连乘的结果变得更可控</a:t>
            </a:r>
            <a:endParaRPr lang="zh-CN" altLang="en-US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A72082-4BFA-4594-A3FA-FD3FC7192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834" y="2828412"/>
            <a:ext cx="9168331" cy="380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99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08FBF-C1F5-485B-99EA-FFF239A3E7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 err="1"/>
              <a:t>mHC:Manifold-Constrained</a:t>
            </a:r>
            <a:r>
              <a:rPr lang="en-US" altLang="zh-CN" b="1" dirty="0"/>
              <a:t> Hyper-Connections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D2D881-4E0C-4550-9F1E-46FFDFB4F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24950" cy="1627187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 sz="4000" b="1" dirty="0" err="1"/>
              <a:t>mHC</a:t>
            </a:r>
            <a:r>
              <a:rPr lang="en-US" altLang="zh-CN" sz="4000" b="1" dirty="0"/>
              <a:t>: </a:t>
            </a:r>
            <a:r>
              <a:rPr lang="zh-CN" altLang="en-US" sz="4000" b="1" dirty="0"/>
              <a:t>流形约束的超连接</a:t>
            </a:r>
            <a:endParaRPr lang="en-US" altLang="zh-CN" sz="4000" b="1" dirty="0"/>
          </a:p>
          <a:p>
            <a:endParaRPr lang="en-US" altLang="zh-CN" sz="4000" b="1" dirty="0"/>
          </a:p>
          <a:p>
            <a:r>
              <a:rPr lang="en-US" altLang="zh-CN" sz="3200" b="1" i="0" dirty="0">
                <a:solidFill>
                  <a:srgbClr val="757A81"/>
                </a:solidFill>
                <a:effectLst/>
                <a:latin typeface="PingFang SC"/>
              </a:rPr>
              <a:t>HC</a:t>
            </a:r>
            <a:r>
              <a:rPr lang="zh-CN" altLang="en-US" sz="3200" b="1" i="0" dirty="0">
                <a:solidFill>
                  <a:srgbClr val="757A81"/>
                </a:solidFill>
                <a:effectLst/>
                <a:latin typeface="PingFang SC"/>
              </a:rPr>
              <a:t>：</a:t>
            </a:r>
            <a:r>
              <a:rPr lang="en-US" altLang="zh-CN" sz="3200" b="1" i="0" dirty="0">
                <a:solidFill>
                  <a:srgbClr val="757A81"/>
                </a:solidFill>
                <a:effectLst/>
                <a:latin typeface="PingFang SC"/>
                <a:hlinkClick r:id="rId2"/>
              </a:rPr>
              <a:t>https://arxiv.org/html/2409.19606v3</a:t>
            </a:r>
            <a:endParaRPr lang="en-US" altLang="zh-CN" sz="3200" b="1" i="0" dirty="0">
              <a:solidFill>
                <a:srgbClr val="757A81"/>
              </a:solidFill>
              <a:effectLst/>
              <a:latin typeface="PingFang SC"/>
            </a:endParaRPr>
          </a:p>
          <a:p>
            <a:br>
              <a:rPr lang="en-US" altLang="zh-CN" sz="3200" b="1" dirty="0"/>
            </a:br>
            <a:r>
              <a:rPr lang="en-US" altLang="zh-CN" sz="3200" b="1" i="0" dirty="0" err="1">
                <a:solidFill>
                  <a:srgbClr val="757A81"/>
                </a:solidFill>
                <a:effectLst/>
                <a:latin typeface="PingFang SC"/>
              </a:rPr>
              <a:t>mHC</a:t>
            </a:r>
            <a:r>
              <a:rPr lang="zh-CN" altLang="en-US" sz="3200" b="1" i="0" dirty="0">
                <a:solidFill>
                  <a:srgbClr val="757A81"/>
                </a:solidFill>
                <a:effectLst/>
                <a:latin typeface="PingFang SC"/>
              </a:rPr>
              <a:t>：</a:t>
            </a:r>
            <a:r>
              <a:rPr lang="en-US" altLang="zh-CN" sz="3200" b="1" i="0" dirty="0">
                <a:solidFill>
                  <a:srgbClr val="757A81"/>
                </a:solidFill>
                <a:effectLst/>
                <a:latin typeface="PingFang SC"/>
                <a:hlinkClick r:id="rId3"/>
              </a:rPr>
              <a:t>https://arxiv.org/html/2512.24880v1</a:t>
            </a:r>
            <a:endParaRPr lang="en-US" altLang="zh-CN" sz="3200" b="1" i="0" dirty="0">
              <a:solidFill>
                <a:srgbClr val="757A81"/>
              </a:solidFill>
              <a:effectLst/>
              <a:latin typeface="PingFang SC"/>
            </a:endParaRPr>
          </a:p>
          <a:p>
            <a:endParaRPr lang="en-US" altLang="zh-CN" sz="4000" b="1" dirty="0"/>
          </a:p>
        </p:txBody>
      </p:sp>
    </p:spTree>
    <p:extLst>
      <p:ext uri="{BB962C8B-B14F-4D97-AF65-F5344CB8AC3E}">
        <p14:creationId xmlns:p14="http://schemas.microsoft.com/office/powerpoint/2010/main" val="3613398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352</Words>
  <Application>Microsoft Office PowerPoint</Application>
  <PresentationFormat>宽屏</PresentationFormat>
  <Paragraphs>39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PingFang SC</vt:lpstr>
      <vt:lpstr>等线</vt:lpstr>
      <vt:lpstr>等线 Light</vt:lpstr>
      <vt:lpstr>Arial</vt:lpstr>
      <vt:lpstr>Office 主题​​</vt:lpstr>
      <vt:lpstr>mHC:Manifold-Constrained Hyper-Connections</vt:lpstr>
      <vt:lpstr>梯度</vt:lpstr>
      <vt:lpstr>PowerPoint 演示文稿</vt:lpstr>
      <vt:lpstr>残差链接</vt:lpstr>
      <vt:lpstr>PowerPoint 演示文稿</vt:lpstr>
      <vt:lpstr>超链接</vt:lpstr>
      <vt:lpstr>PowerPoint 演示文稿</vt:lpstr>
      <vt:lpstr>流形约束的超连接</vt:lpstr>
      <vt:lpstr>PowerPoint 演示文稿</vt:lpstr>
      <vt:lpstr>PowerPoint 演示文稿</vt:lpstr>
      <vt:lpstr>效果拔群！</vt:lpstr>
      <vt:lpstr>PowerPoint 演示文稿</vt:lpstr>
      <vt:lpstr>mHC:Manifold-Constrained Hyper-Connections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mHC:Manifold-Constrained Hyper-Connections</dc:title>
  <dc:creator>Lyn Suen</dc:creator>
  <cp:lastModifiedBy>Lyn Suen</cp:lastModifiedBy>
  <cp:revision>9</cp:revision>
  <dcterms:created xsi:type="dcterms:W3CDTF">2026-03-23T14:49:04Z</dcterms:created>
  <dcterms:modified xsi:type="dcterms:W3CDTF">2026-03-23T16:25:42Z</dcterms:modified>
</cp:coreProperties>
</file>